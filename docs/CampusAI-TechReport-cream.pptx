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2428"/>
                </a:solidFill>
                <a:latin typeface="Microsoft JhengHei"/>
                <a:ea typeface="Microsoft JhengHei"/>
              </a:rPr>
              <a:t>校園個人化助理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職責分離：Client 管對話與流程；MCP Server 只做知識檢索。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校務資料在 SQL Server；規章問答走 rag_retrieve；回覆由 Gemini 整理。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274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663440"/>
            <a:ext cx="17830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7274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ASP.NET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663440"/>
            <a:ext cx="17830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7274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66344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47274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66344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7274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Gemini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66344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47274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2428"/>
                </a:solidFill>
                <a:latin typeface="Microsoft JhengHei"/>
                <a:ea typeface="Microsoft JhengHei"/>
              </a:rPr>
              <a:t>報告人：呂紹瑜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題目規格對照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嚴格遵循設計指標：分離 MCP 端點職責，並對齊目前實作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2/9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05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0200"/>
            <a:ext cx="313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2428"/>
                </a:solidFill>
                <a:latin typeface="Microsoft JhengHei"/>
                <a:ea typeface="Microsoft JhengHei"/>
              </a:rPr>
              <a:t>MCP Server 規格與實作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規格：只有一個功能——RAG 檢索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63240"/>
            <a:ext cx="313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7A4F"/>
                </a:solidFill>
                <a:latin typeface="Microsoft JhengHei"/>
                <a:ea typeface="Microsoft JhengHei"/>
              </a:rPr>
              <a:t>實作：rag_retrieve(query, topK)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84048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僅開放單一端點，獨立於對話機制外；針對 campus-docs.json 做語意／關鍵字檢索。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1417320"/>
            <a:ext cx="3505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00200"/>
            <a:ext cx="313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2428"/>
                </a:solidFill>
                <a:latin typeface="Microsoft JhengHei"/>
                <a:ea typeface="Microsoft JhengHei"/>
              </a:rPr>
              <a:t>MCP Client 規格與實作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24028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規格：負責使用者對話管理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40" y="3063240"/>
            <a:ext cx="313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7A3A"/>
                </a:solidFill>
                <a:latin typeface="Microsoft JhengHei"/>
                <a:ea typeface="Microsoft JhengHei"/>
              </a:rPr>
              <a:t>實作：React 多對話 ＋ JWT／SQL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1040" y="384048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ASP.NET Core 管理 JWT；對話歷程持久化於 SQL Server；校園問答時才呼叫 MCP。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417320"/>
            <a:ext cx="3505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9119" y="1600200"/>
            <a:ext cx="313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2428"/>
                </a:solidFill>
                <a:latin typeface="Microsoft JhengHei"/>
                <a:ea typeface="Microsoft JhengHei"/>
              </a:rPr>
              <a:t>開發環境與語言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224028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本簡報：完整結構化架構解說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9119" y="3063240"/>
            <a:ext cx="313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熟悉實作語言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9119" y="384048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C#（ASP.NET Core／SSMS）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TypeScript（React ＋ Vite）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MCP RAG Server：C#（mcp-rag-server）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對話與流程控制歸於 Client；知識檢索隔離於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502920"/>
          </a:xfrm>
          <a:prstGeom prst="roundRect">
            <a:avLst/>
          </a:prstGeom>
          <a:solidFill>
            <a:srgbClr val="E6F4F2"/>
          </a:solidFill>
          <a:ln w="15875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核心理念：Client 管聊天與調度；MCP Server 不聊天，只檢索。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737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使用者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14600"/>
            <a:ext cx="1554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瀏覽器操作網站與對話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069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F7A4F"/>
                </a:solidFill>
                <a:latin typeface="Microsoft JhengHei"/>
                <a:ea typeface="Microsoft JhengHei"/>
              </a:rPr>
              <a:t>Student / Teacher /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057400"/>
            <a:ext cx="1737360" cy="2331720"/>
          </a:xfrm>
          <a:prstGeom prst="roundRect">
            <a:avLst/>
          </a:prstGeom>
          <a:solidFill>
            <a:srgbClr val="E6F4F2"/>
          </a:solidFill>
          <a:ln w="19050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React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514600"/>
            <a:ext cx="1554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主畫面、側欄、多對話、入口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69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F7A4F"/>
                </a:solidFill>
                <a:latin typeface="Microsoft JhengHei"/>
                <a:ea typeface="Microsoft JhengHei"/>
              </a:rPr>
              <a:t>TypeScript + Vite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057400"/>
            <a:ext cx="1737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CampusAI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14600"/>
            <a:ext cx="1554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JWT、對話持久化、校務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69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F7A4F"/>
                </a:solidFill>
                <a:latin typeface="Microsoft JhengHei"/>
                <a:ea typeface="Microsoft JhengHei"/>
              </a:rPr>
              <a:t>ASP.NET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057400"/>
            <a:ext cx="1737360" cy="2331720"/>
          </a:xfrm>
          <a:prstGeom prst="roundRect">
            <a:avLst/>
          </a:prstGeom>
          <a:solidFill>
            <a:srgbClr val="E6F4F2"/>
          </a:solidFill>
          <a:ln w="19050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Personal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14600"/>
            <a:ext cx="1554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意圖判斷、Agent 調度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69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F7A4F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057400"/>
            <a:ext cx="1737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MCP RAG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514600"/>
            <a:ext cx="1554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唯一功能：rag_retrieve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069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F7A4F"/>
                </a:solidFill>
                <a:latin typeface="Microsoft JhengHei"/>
                <a:ea typeface="Microsoft JhengHei"/>
              </a:rPr>
              <a:t>C# · 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057400"/>
            <a:ext cx="1737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資料來源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514600"/>
            <a:ext cx="1554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SQL 校務表 ＋ campus-docs.json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4069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F7A4F"/>
                </a:solidFill>
                <a:latin typeface="Microsoft JhengHei"/>
                <a:ea typeface="Microsoft JhengHei"/>
              </a:rPr>
              <a:t>SQL /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09160"/>
            <a:ext cx="108813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846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7A3A"/>
                </a:solidFill>
                <a:latin typeface="Microsoft JhengHei"/>
                <a:ea typeface="Microsoft JhengHei"/>
              </a:rPr>
              <a:t>關鍵分流策略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獎學金／選課／活動等校務操作 → 直接走校務 Tools，讀寫 SQL Server。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校園規章、辦法等知識問答 → 才走 MCP rag_retrieve，再由 Gemini 整理回覆。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系統分層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由上而下對齊目前程式結構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應用層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React：主畫面、校務系統、平台服務、助理功能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1635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Personal Orchestrator ＋ 推薦／規劃／申請／溝通／提醒／分析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12464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41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API 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98678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校務 API、平台服務、JWT、對話與 MCP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82896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114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資料層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15721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SQL Server 正式校務表；校園問答另接 MCP 找文件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MCP Server 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極簡、無狀態的知識索取端點，單一職責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5/9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服務基本配置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專案名稱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57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2428"/>
                </a:solidFill>
                <a:latin typeface="Microsoft JhengHei"/>
                <a:ea typeface="Microsoft JhengHei"/>
              </a:rPr>
              <a:t>mcp-rag-server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通訊協定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2428"/>
                </a:solidFill>
                <a:latin typeface="Microsoft JhengHei"/>
                <a:ea typeface="Microsoft JhengHei"/>
              </a:rPr>
              <a:t>MCP over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單一開放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80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2428"/>
                </a:solidFill>
                <a:latin typeface="Microsoft JhengHei"/>
                <a:ea typeface="Microsoft JhengHei"/>
              </a:rPr>
              <a:t>rag_retrieve(query, topK)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知識來源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2428"/>
                </a:solidFill>
                <a:latin typeface="Microsoft JhengHei"/>
                <a:ea typeface="Microsoft JhengHei"/>
              </a:rPr>
              <a:t>knowledge/campus-docs.json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2428"/>
                </a:solidFill>
                <a:latin typeface="Microsoft JhengHei"/>
                <a:ea typeface="Microsoft JhengHei"/>
              </a:rPr>
              <a:t>Server 絕對不做的事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3A3A"/>
                </a:solidFill>
                <a:latin typeface="Microsoft JhengHei"/>
                <a:ea typeface="Microsoft JhengHei"/>
              </a:rPr>
              <a:t>✕  不維護對話狀態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3A3A"/>
                </a:solidFill>
                <a:latin typeface="Microsoft JhengHei"/>
                <a:ea typeface="Microsoft JhengHei"/>
              </a:rPr>
              <a:t>✕  不處理 JWT 與帳號登入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3A3A"/>
                </a:solidFill>
                <a:latin typeface="Microsoft JhengHei"/>
                <a:ea typeface="Microsoft JhengHei"/>
              </a:rPr>
              <a:t>✕  不呼叫 LLM、不生成自然語言回覆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371600"/>
            <a:ext cx="5349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Tool API 規格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輸入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query：自然語言問題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topK：回傳最相關片段數（預設 3）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Top-K 規章片段：標題、類別、內容、分數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僅回傳原始檢索結果，不做聊天包裝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4754880" cy="822960"/>
          </a:xfrm>
          <a:prstGeom prst="roundRect">
            <a:avLst/>
          </a:prstGeom>
          <a:solidFill>
            <a:srgbClr val="E6F4F2"/>
          </a:solidFill>
          <a:ln w="15875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57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一句話：Server 只檢索，不聊天。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MCP Client／對話管理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統籌身分、對話持久化，並在需要時調度 MCP 與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6/9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對話與身分持久化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C2428"/>
                </a:solidFill>
                <a:latin typeface="Microsoft JhengHei"/>
                <a:ea typeface="Microsoft JhengHei"/>
              </a:rPr>
              <a:t>JWT 身分驗證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學生／教師／行政角色分流；入口與功能依身分切換。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C2428"/>
                </a:solidFill>
                <a:latin typeface="Microsoft JhengHei"/>
                <a:ea typeface="Microsoft JhengHei"/>
              </a:rPr>
              <a:t>SQL Server 對話持久化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後端寫入對話紀錄，可用 SSMS 查核。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前端側欄：新對話、切換多對話、歷史清單。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校務正式資料（成績、獎助、課程…）同庫管理。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349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知識整合與生成流程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7A4F"/>
                </a:solidFill>
                <a:latin typeface="Microsoft JhengHei"/>
                <a:ea typeface="Microsoft JhengHei"/>
              </a:rPr>
              <a:t>1. 意圖評估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2428"/>
                </a:solidFill>
                <a:latin typeface="Microsoft JhengHei"/>
                <a:ea typeface="Microsoft JhengHei"/>
              </a:rPr>
              <a:t>涉及校園規章等知識時，才呼叫 MCP rag_retrieve。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7A4F"/>
                </a:solidFill>
                <a:latin typeface="Microsoft JhengHei"/>
                <a:ea typeface="Microsoft JhengHei"/>
              </a:rPr>
              <a:t>2. 校務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2428"/>
                </a:solidFill>
                <a:latin typeface="Microsoft JhengHei"/>
                <a:ea typeface="Microsoft JhengHei"/>
              </a:rPr>
              <a:t>獎學金／選課／活動等直接查 SQL，不經 MCP。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7A4F"/>
                </a:solidFill>
                <a:latin typeface="Microsoft JhengHei"/>
                <a:ea typeface="Microsoft JhengHei"/>
              </a:rPr>
              <a:t>3. Gemini 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5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2428"/>
                </a:solidFill>
                <a:latin typeface="Microsoft JhengHei"/>
                <a:ea typeface="Microsoft JhengHei"/>
              </a:rPr>
              <a:t>把查得結果與對話脈絡組成回覆。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029200"/>
            <a:ext cx="4754880" cy="914400"/>
          </a:xfrm>
          <a:prstGeom prst="roundRect">
            <a:avLst/>
          </a:prstGeom>
          <a:solidFill>
            <a:srgbClr val="E6F4F2"/>
          </a:solidFill>
          <a:ln w="15875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2120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RAG 與對話解耦：檢索交給 MCP；安全與歷史交給 ASP.NET Core。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一輪請求怎麼走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從輸入問題到畫面回覆的完整生命週期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47610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1 輸入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使用者在網站提問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7622" y="1417320"/>
            <a:ext cx="147610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9062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2 送出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9062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帶 conversationId 與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5165" y="1417320"/>
            <a:ext cx="147610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6605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3 意圖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6605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Orchestrator 判斷路徑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2708" y="1417320"/>
            <a:ext cx="147610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4148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4 分流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4148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SQL 校務 或 MCP 檢索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0251" y="1417320"/>
            <a:ext cx="147610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691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5 取回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691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成績／規章片段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77794" y="1417320"/>
            <a:ext cx="147610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9234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6 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9234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Gemini 整理回覆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45337" y="1417320"/>
            <a:ext cx="1476102" cy="2011680"/>
          </a:xfrm>
          <a:prstGeom prst="roundRect">
            <a:avLst/>
          </a:prstGeom>
          <a:solidFill>
            <a:srgbClr val="E6F4F2"/>
          </a:solidFill>
          <a:ln w="19050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36777" y="1527048"/>
            <a:ext cx="12932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7 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6777" y="1874519"/>
            <a:ext cx="129322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2428"/>
                </a:solidFill>
                <a:latin typeface="Microsoft JhengHei"/>
                <a:ea typeface="Microsoft JhengHei"/>
              </a:rPr>
              <a:t>SQL 存檔並渲染畫面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94760"/>
            <a:ext cx="108813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977639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兩條實際路徑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8056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問獎學金／選課／活動 → API → 校務 Tools → SQL Server → Gemini 整理。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問校規／辦法 → API → MCP Client → rag_retrieve → campus-docs.json → Gemini 整理。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執行紀錄可看到工具呼叫軌跡（例如 Call tool: rag_retrieve）。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現場示範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用同一套資料，對照資料庫、畫面與執行紀錄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05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45920"/>
            <a:ext cx="313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1. 資料庫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13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SSMS 打開 Students，先看 GPA 與正式校務表。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4069080"/>
            <a:ext cx="20116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1417320"/>
            <a:ext cx="3505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1645920"/>
            <a:ext cx="313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2. 主畫面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286000"/>
            <a:ext cx="313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登入後走一圈：校務系統、平台服務、助理功能三塊入口。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1040" y="4069080"/>
            <a:ext cx="20116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417320"/>
            <a:ext cx="3505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9119" y="1645920"/>
            <a:ext cx="313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8A80"/>
                </a:solidFill>
                <a:latin typeface="Microsoft JhengHei"/>
                <a:ea typeface="Microsoft JhengHei"/>
              </a:rPr>
              <a:t>3. 精準問答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2286000"/>
            <a:ext cx="313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問獎學金條件對照資料庫；問校規可見 MCP 軌跡。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9119" y="4069080"/>
            <a:ext cx="20116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9119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RAG /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881360" cy="1188720"/>
          </a:xfrm>
          <a:prstGeom prst="roundRect">
            <a:avLst/>
          </a:prstGeom>
          <a:solidFill>
            <a:srgbClr val="E6F4F2"/>
          </a:solidFill>
          <a:ln w="15875">
            <a:solidFill>
              <a:srgbClr val="1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KEY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2428"/>
                </a:solidFill>
                <a:latin typeface="Microsoft JhengHei"/>
                <a:ea typeface="Microsoft JhengHei"/>
              </a:rPr>
              <a:t>入口依身分與功能分；校務資料在 SQL；問答找文件走 MCP；回覆由 Gemini 整理。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03120" y="1828800"/>
            <a:ext cx="7955279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224028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>
                <a:solidFill>
                  <a:srgbClr val="1F8A80"/>
                </a:solidFill>
                <a:latin typeface="Microsoft JhengHei"/>
                <a:ea typeface="Microsoft JhengHe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1089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56B"/>
                </a:solidFill>
                <a:latin typeface="Microsoft JhengHei"/>
                <a:ea typeface="Microsoft JhengHei"/>
              </a:rPr>
              <a:t>Campus AI｜校園個人化助理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74903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C2428"/>
                </a:solidFill>
                <a:latin typeface="Microsoft JhengHei"/>
                <a:ea typeface="Microsoft JhengHei"/>
              </a:rPr>
              <a:t>報告人：呂紹瑜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