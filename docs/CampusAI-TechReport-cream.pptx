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8A80"/>
    <a:srgbClr val="8FC6C1"/>
    <a:srgbClr val="E6F4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372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AEC38E-7396-4A29-8862-66B126203FD5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1C11A7-C0BF-4815-9B46-43BBA3DBFF8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46138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1C11A7-C0BF-4815-9B46-43BBA3DBFF84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08140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1C11A7-C0BF-4815-9B46-43BBA3DBFF84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0789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194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C2428"/>
                </a:solidFill>
                <a:latin typeface="Microsoft JhengHei"/>
                <a:ea typeface="Microsoft JhengHei"/>
              </a:rPr>
              <a:t>校園個人化助理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08960"/>
            <a:ext cx="10515600" cy="687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lang="zh-TW" altLang="en-US" sz="1600" b="0" dirty="0">
                <a:solidFill>
                  <a:srgbClr val="5A656B"/>
                </a:solidFill>
                <a:latin typeface="Microsoft JhengHei"/>
                <a:ea typeface="Microsoft JhengHei"/>
              </a:rPr>
              <a:t>採用明確職責分離，</a:t>
            </a:r>
            <a:r>
              <a:rPr sz="1600" b="0" dirty="0">
                <a:solidFill>
                  <a:srgbClr val="5A656B"/>
                </a:solidFill>
                <a:latin typeface="Microsoft JhengHei"/>
                <a:ea typeface="Microsoft JhengHei"/>
              </a:rPr>
              <a:t>Client </a:t>
            </a:r>
            <a:r>
              <a:rPr sz="1600" b="0" dirty="0" err="1">
                <a:solidFill>
                  <a:srgbClr val="5A656B"/>
                </a:solidFill>
                <a:latin typeface="Microsoft JhengHei"/>
                <a:ea typeface="Microsoft JhengHei"/>
              </a:rPr>
              <a:t>管對話與流程；MCP</a:t>
            </a:r>
            <a:r>
              <a:rPr sz="1600" b="0" dirty="0">
                <a:solidFill>
                  <a:srgbClr val="5A656B"/>
                </a:solidFill>
                <a:latin typeface="Microsoft JhengHei"/>
                <a:ea typeface="Microsoft JhengHei"/>
              </a:rPr>
              <a:t> Server </a:t>
            </a:r>
            <a:r>
              <a:rPr sz="1600" b="0" dirty="0" err="1">
                <a:solidFill>
                  <a:srgbClr val="5A656B"/>
                </a:solidFill>
                <a:latin typeface="Microsoft JhengHei"/>
                <a:ea typeface="Microsoft JhengHei"/>
              </a:rPr>
              <a:t>只做知識檢索</a:t>
            </a:r>
            <a:r>
              <a:rPr sz="1600" b="0" dirty="0">
                <a:solidFill>
                  <a:srgbClr val="5A656B"/>
                </a:solidFill>
                <a:latin typeface="Microsoft JhengHei"/>
                <a:ea typeface="Microsoft JhengHei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1600" b="0" dirty="0" err="1">
                <a:solidFill>
                  <a:srgbClr val="5A656B"/>
                </a:solidFill>
                <a:latin typeface="Microsoft JhengHei"/>
                <a:ea typeface="Microsoft JhengHei"/>
              </a:rPr>
              <a:t>校務資料在</a:t>
            </a:r>
            <a:r>
              <a:rPr sz="1600" b="0" dirty="0">
                <a:solidFill>
                  <a:srgbClr val="5A656B"/>
                </a:solidFill>
                <a:latin typeface="Microsoft JhengHei"/>
                <a:ea typeface="Microsoft JhengHei"/>
              </a:rPr>
              <a:t> SQL Server</a:t>
            </a:r>
            <a:r>
              <a:rPr lang="zh-TW" altLang="en-US" sz="1600" b="0" dirty="0">
                <a:solidFill>
                  <a:srgbClr val="5A656B"/>
                </a:solidFill>
                <a:latin typeface="Microsoft JhengHei"/>
                <a:ea typeface="Microsoft JhengHei"/>
              </a:rPr>
              <a:t>，</a:t>
            </a:r>
            <a:r>
              <a:rPr sz="1600" b="0" dirty="0" err="1">
                <a:solidFill>
                  <a:srgbClr val="5A656B"/>
                </a:solidFill>
                <a:latin typeface="Microsoft JhengHei"/>
                <a:ea typeface="Microsoft JhengHei"/>
              </a:rPr>
              <a:t>規章問答走</a:t>
            </a:r>
            <a:r>
              <a:rPr sz="1600" b="0" dirty="0">
                <a:solidFill>
                  <a:srgbClr val="5A656B"/>
                </a:solidFill>
                <a:latin typeface="Microsoft JhengHei"/>
                <a:ea typeface="Microsoft JhengHei"/>
              </a:rPr>
              <a:t> </a:t>
            </a:r>
            <a:r>
              <a:rPr sz="1600" b="0" dirty="0" err="1">
                <a:solidFill>
                  <a:srgbClr val="5A656B"/>
                </a:solidFill>
                <a:latin typeface="Microsoft JhengHei"/>
                <a:ea typeface="Microsoft JhengHei"/>
              </a:rPr>
              <a:t>rag_retrieve</a:t>
            </a:r>
            <a:r>
              <a:rPr lang="zh-TW" altLang="en-US" sz="1600" b="0" dirty="0">
                <a:solidFill>
                  <a:srgbClr val="5A656B"/>
                </a:solidFill>
                <a:latin typeface="Microsoft JhengHei"/>
                <a:ea typeface="Microsoft JhengHei"/>
              </a:rPr>
              <a:t>，</a:t>
            </a:r>
            <a:r>
              <a:rPr sz="1600" b="0" dirty="0" err="1">
                <a:solidFill>
                  <a:srgbClr val="5A656B"/>
                </a:solidFill>
                <a:latin typeface="Microsoft JhengHei"/>
                <a:ea typeface="Microsoft JhengHei"/>
              </a:rPr>
              <a:t>回覆</a:t>
            </a:r>
            <a:r>
              <a:rPr lang="zh-TW" altLang="en-US" sz="1600" b="0" dirty="0">
                <a:solidFill>
                  <a:srgbClr val="5A656B"/>
                </a:solidFill>
                <a:latin typeface="Microsoft JhengHei"/>
                <a:ea typeface="Microsoft JhengHei"/>
              </a:rPr>
              <a:t>交</a:t>
            </a:r>
            <a:r>
              <a:rPr sz="1600" b="0" dirty="0">
                <a:solidFill>
                  <a:srgbClr val="5A656B"/>
                </a:solidFill>
                <a:latin typeface="Microsoft JhengHei"/>
                <a:ea typeface="Microsoft JhengHei"/>
              </a:rPr>
              <a:t>由 Gemini </a:t>
            </a:r>
            <a:r>
              <a:rPr sz="1600" b="0" dirty="0" err="1">
                <a:solidFill>
                  <a:srgbClr val="5A656B"/>
                </a:solidFill>
                <a:latin typeface="Microsoft JhengHei"/>
                <a:ea typeface="Microsoft JhengHei"/>
              </a:rPr>
              <a:t>整理</a:t>
            </a:r>
            <a:r>
              <a:rPr sz="1600" b="0" dirty="0">
                <a:solidFill>
                  <a:srgbClr val="5A656B"/>
                </a:solidFill>
                <a:latin typeface="Microsoft JhengHei"/>
                <a:ea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663440"/>
            <a:ext cx="1417320" cy="365760"/>
          </a:xfrm>
          <a:prstGeom prst="roundRect">
            <a:avLst/>
          </a:prstGeom>
          <a:solidFill>
            <a:srgbClr val="E6F4F2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72744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1F8A80"/>
                </a:solidFill>
                <a:latin typeface="Microsoft JhengHei"/>
                <a:ea typeface="Microsoft JhengHei"/>
              </a:rPr>
              <a:t>React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4663440"/>
            <a:ext cx="1783080" cy="365760"/>
          </a:xfrm>
          <a:prstGeom prst="roundRect">
            <a:avLst/>
          </a:prstGeom>
          <a:solidFill>
            <a:srgbClr val="E6F4F2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48840" y="4727448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1F8A80"/>
                </a:solidFill>
                <a:latin typeface="Microsoft JhengHei"/>
                <a:ea typeface="Microsoft JhengHei"/>
              </a:rPr>
              <a:t>ASP.NET 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4663440"/>
            <a:ext cx="1783080" cy="365760"/>
          </a:xfrm>
          <a:prstGeom prst="roundRect">
            <a:avLst/>
          </a:prstGeom>
          <a:solidFill>
            <a:srgbClr val="E6F4F2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23360" y="4727448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1F8A80"/>
                </a:solidFill>
                <a:latin typeface="Microsoft JhengHei"/>
                <a:ea typeface="Microsoft JhengHei"/>
              </a:rPr>
              <a:t>SQL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4663440"/>
            <a:ext cx="1417320" cy="365760"/>
          </a:xfrm>
          <a:prstGeom prst="roundRect">
            <a:avLst/>
          </a:prstGeom>
          <a:solidFill>
            <a:srgbClr val="E6F4F2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97880" y="472744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1F8A80"/>
                </a:solidFill>
                <a:latin typeface="Microsoft JhengHei"/>
                <a:ea typeface="Microsoft JhengHei"/>
              </a:rPr>
              <a:t>JWT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4663440"/>
            <a:ext cx="1417320" cy="365760"/>
          </a:xfrm>
          <a:prstGeom prst="roundRect">
            <a:avLst/>
          </a:prstGeom>
          <a:solidFill>
            <a:srgbClr val="E6F4F2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472744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1F8A80"/>
                </a:solidFill>
                <a:latin typeface="Microsoft JhengHei"/>
                <a:ea typeface="Microsoft JhengHei"/>
              </a:rPr>
              <a:t>Gemini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4663440"/>
            <a:ext cx="1417320" cy="365760"/>
          </a:xfrm>
          <a:prstGeom prst="roundRect">
            <a:avLst/>
          </a:prstGeom>
          <a:solidFill>
            <a:srgbClr val="E6F4F2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15400" y="472744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1F8A80"/>
                </a:solidFill>
                <a:latin typeface="Microsoft JhengHei"/>
                <a:ea typeface="Microsoft JhengHei"/>
              </a:rPr>
              <a:t>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607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C2428"/>
                </a:solidFill>
                <a:latin typeface="Microsoft JhengHei"/>
                <a:ea typeface="Microsoft JhengHei"/>
              </a:rPr>
              <a:t>報告人：呂紹瑜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7607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C2428"/>
                </a:solidFill>
                <a:latin typeface="Microsoft JhengHei"/>
                <a:ea typeface="Microsoft JhengHei"/>
              </a:rPr>
              <a:t>題目規格對照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A656B"/>
                </a:solidFill>
                <a:latin typeface="Microsoft JhengHei"/>
                <a:ea typeface="Microsoft JhengHei"/>
              </a:rPr>
              <a:t>嚴格遵循設計指標：分離 MCP 端點職責，並對齊目前實作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7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A656B"/>
                </a:solidFill>
                <a:latin typeface="Microsoft JhengHei"/>
                <a:ea typeface="Microsoft JhengHei"/>
              </a:rPr>
              <a:t>2/9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505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1600200"/>
            <a:ext cx="3139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C2428"/>
                </a:solidFill>
                <a:latin typeface="Microsoft JhengHei"/>
                <a:ea typeface="Microsoft JhengHei"/>
              </a:rPr>
              <a:t>MCP Server 規格與實作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240280"/>
            <a:ext cx="31394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dirty="0" err="1">
                <a:solidFill>
                  <a:srgbClr val="5A656B"/>
                </a:solidFill>
                <a:latin typeface="Microsoft JhengHei"/>
                <a:ea typeface="Microsoft JhengHei"/>
              </a:rPr>
              <a:t>只有RAG</a:t>
            </a:r>
            <a:r>
              <a:rPr sz="1300" b="0" dirty="0">
                <a:solidFill>
                  <a:srgbClr val="5A656B"/>
                </a:solidFill>
                <a:latin typeface="Microsoft JhengHei"/>
                <a:ea typeface="Microsoft JhengHei"/>
              </a:rPr>
              <a:t> </a:t>
            </a:r>
            <a:r>
              <a:rPr sz="1300" b="0" dirty="0" err="1">
                <a:solidFill>
                  <a:srgbClr val="5A656B"/>
                </a:solidFill>
                <a:latin typeface="Microsoft JhengHei"/>
                <a:ea typeface="Microsoft JhengHei"/>
              </a:rPr>
              <a:t>檢索</a:t>
            </a:r>
            <a:r>
              <a:rPr lang="zh-TW" altLang="en-US" sz="1300" b="0" dirty="0">
                <a:solidFill>
                  <a:srgbClr val="5A656B"/>
                </a:solidFill>
                <a:latin typeface="Microsoft JhengHei"/>
                <a:ea typeface="Microsoft JhengHei"/>
              </a:rPr>
              <a:t>功能。</a:t>
            </a:r>
            <a:endParaRPr sz="1300" b="0" dirty="0">
              <a:solidFill>
                <a:srgbClr val="5A656B"/>
              </a:solidFill>
              <a:latin typeface="Microsoft JhengHei"/>
              <a:ea typeface="Microsoft Jheng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2959" y="3063240"/>
            <a:ext cx="313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F7A4F"/>
                </a:solidFill>
                <a:latin typeface="Microsoft JhengHei"/>
                <a:ea typeface="Microsoft JhengHei"/>
              </a:rPr>
              <a:t>實作：rag_retrieve(query, topK)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840480"/>
            <a:ext cx="3139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僅開放單一端點，獨立於對話機制外；針對</a:t>
            </a:r>
            <a:r>
              <a:rPr sz="1300" b="0" dirty="0">
                <a:solidFill>
                  <a:srgbClr val="1C2428"/>
                </a:solidFill>
                <a:latin typeface="Microsoft JhengHei"/>
                <a:ea typeface="Microsoft JhengHei"/>
              </a:rPr>
              <a:t> campus-</a:t>
            </a:r>
            <a:r>
              <a:rPr sz="13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docs.json</a:t>
            </a:r>
            <a:r>
              <a:rPr sz="1300" b="0" dirty="0">
                <a:solidFill>
                  <a:srgbClr val="1C2428"/>
                </a:solidFill>
                <a:latin typeface="Microsoft JhengHei"/>
                <a:ea typeface="Microsoft JhengHei"/>
              </a:rPr>
              <a:t> </a:t>
            </a:r>
            <a:r>
              <a:rPr sz="13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做語意／關鍵字檢索</a:t>
            </a:r>
            <a:r>
              <a:rPr sz="1300" b="0" dirty="0">
                <a:solidFill>
                  <a:srgbClr val="1C2428"/>
                </a:solidFill>
                <a:latin typeface="Microsoft JhengHei"/>
                <a:ea typeface="Microsoft JhengHei"/>
              </a:rPr>
              <a:t>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8160" y="1417320"/>
            <a:ext cx="3505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11040" y="1600200"/>
            <a:ext cx="3139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C2428"/>
                </a:solidFill>
                <a:latin typeface="Microsoft JhengHei"/>
                <a:ea typeface="Microsoft JhengHei"/>
              </a:rPr>
              <a:t>MCP Client 規格與實作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2240280"/>
            <a:ext cx="31394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dirty="0" err="1">
                <a:solidFill>
                  <a:srgbClr val="5A656B"/>
                </a:solidFill>
                <a:latin typeface="Microsoft JhengHei"/>
                <a:ea typeface="Microsoft JhengHei"/>
              </a:rPr>
              <a:t>負責使用者對話管理</a:t>
            </a:r>
            <a:r>
              <a:rPr lang="zh-TW" altLang="en-US" sz="1300" b="0" dirty="0">
                <a:solidFill>
                  <a:srgbClr val="5A656B"/>
                </a:solidFill>
                <a:latin typeface="Microsoft JhengHei"/>
                <a:ea typeface="Microsoft JhengHei"/>
              </a:rPr>
              <a:t>。</a:t>
            </a:r>
            <a:endParaRPr sz="1300" b="0" dirty="0">
              <a:solidFill>
                <a:srgbClr val="5A656B"/>
              </a:solidFill>
              <a:latin typeface="Microsoft JhengHei"/>
              <a:ea typeface="Microsoft Jheng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11040" y="3063240"/>
            <a:ext cx="313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47A3A"/>
                </a:solidFill>
                <a:latin typeface="Microsoft JhengHei"/>
                <a:ea typeface="Microsoft JhengHei"/>
              </a:rPr>
              <a:t>實作：React 多對話 ＋ JWT／SQL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1040" y="3840480"/>
            <a:ext cx="3139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C2428"/>
                </a:solidFill>
                <a:latin typeface="Microsoft JhengHei"/>
                <a:ea typeface="Microsoft JhengHei"/>
              </a:rPr>
              <a:t>ASP.NET Core 管理 JWT；對話歷程持久化於 SQL Server；校園問答時才呼叫 MCP。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6239" y="1417320"/>
            <a:ext cx="3505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99119" y="1600200"/>
            <a:ext cx="3139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C2428"/>
                </a:solidFill>
                <a:latin typeface="Microsoft JhengHei"/>
                <a:ea typeface="Microsoft JhengHei"/>
              </a:rPr>
              <a:t>開發環境與語言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1" y="2240280"/>
            <a:ext cx="3139440" cy="1097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dirty="0">
                <a:solidFill>
                  <a:srgbClr val="1C2428"/>
                </a:solidFill>
                <a:latin typeface="Microsoft JhengHei"/>
                <a:ea typeface="Microsoft JhengHei"/>
              </a:rPr>
              <a:t>C#（ASP.NET </a:t>
            </a:r>
            <a:r>
              <a:rPr sz="13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Core／SSMS</a:t>
            </a:r>
            <a:r>
              <a:rPr sz="1300" b="0" dirty="0">
                <a:solidFill>
                  <a:srgbClr val="1C2428"/>
                </a:solidFill>
                <a:latin typeface="Microsoft JhengHei"/>
                <a:ea typeface="Microsoft JhengHei"/>
              </a:rPr>
              <a:t>）</a:t>
            </a:r>
          </a:p>
          <a:p>
            <a:pPr>
              <a:spcAft>
                <a:spcPts val="800"/>
              </a:spcAft>
            </a:pPr>
            <a:r>
              <a:rPr sz="13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TypeScript（React</a:t>
            </a:r>
            <a:r>
              <a:rPr sz="1300" b="0" dirty="0">
                <a:solidFill>
                  <a:srgbClr val="1C2428"/>
                </a:solidFill>
                <a:latin typeface="Microsoft JhengHei"/>
                <a:ea typeface="Microsoft JhengHei"/>
              </a:rPr>
              <a:t> ＋ Vite）</a:t>
            </a:r>
          </a:p>
          <a:p>
            <a:pPr>
              <a:spcAft>
                <a:spcPts val="800"/>
              </a:spcAft>
            </a:pPr>
            <a:r>
              <a:rPr sz="1300" b="0" dirty="0">
                <a:solidFill>
                  <a:srgbClr val="1C2428"/>
                </a:solidFill>
                <a:latin typeface="Microsoft JhengHei"/>
                <a:ea typeface="Microsoft JhengHei"/>
              </a:rPr>
              <a:t>MCP RAG </a:t>
            </a:r>
            <a:r>
              <a:rPr sz="13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Server：C</a:t>
            </a:r>
            <a:r>
              <a:rPr sz="1300" b="0" dirty="0">
                <a:solidFill>
                  <a:srgbClr val="1C2428"/>
                </a:solidFill>
                <a:latin typeface="Microsoft JhengHei"/>
                <a:ea typeface="Microsoft JhengHei"/>
              </a:rPr>
              <a:t>#（mcp-rag-server）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7607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C2428"/>
                </a:solidFill>
                <a:latin typeface="Microsoft JhengHei"/>
                <a:ea typeface="Microsoft JhengHei"/>
              </a:rPr>
              <a:t>系統架構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A656B"/>
                </a:solidFill>
                <a:latin typeface="Microsoft JhengHei"/>
                <a:ea typeface="Microsoft JhengHei"/>
              </a:rPr>
              <a:t>對話與流程控制歸於 Client；知識檢索隔離於 MCP Server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7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A656B"/>
                </a:solidFill>
                <a:latin typeface="Microsoft JhengHei"/>
                <a:ea typeface="Microsoft JhengHei"/>
              </a:rPr>
              <a:t>3/9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10881360" cy="502920"/>
          </a:xfrm>
          <a:prstGeom prst="roundRect">
            <a:avLst/>
          </a:prstGeom>
          <a:solidFill>
            <a:srgbClr val="E6F4F2"/>
          </a:solidFill>
          <a:ln w="15875">
            <a:solidFill>
              <a:srgbClr val="1F8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41732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8A80"/>
                </a:solidFill>
                <a:latin typeface="Microsoft JhengHei"/>
                <a:ea typeface="Microsoft JhengHei"/>
              </a:rPr>
              <a:t>核心理念：Client 管聊天與調度；MCP Server 不聊天，只檢索。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57400"/>
            <a:ext cx="17373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19" y="21671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8A80"/>
                </a:solidFill>
                <a:latin typeface="Microsoft JhengHei"/>
                <a:ea typeface="Microsoft JhengHei"/>
              </a:rPr>
              <a:t>使用者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2928975"/>
            <a:ext cx="1554480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C2428"/>
                </a:solidFill>
                <a:latin typeface="Microsoft JhengHei"/>
                <a:ea typeface="Microsoft JhengHei"/>
              </a:rPr>
              <a:t>瀏覽器操作網站與對話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19" y="406908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F7A4F"/>
                </a:solidFill>
                <a:latin typeface="Microsoft JhengHei"/>
                <a:ea typeface="Microsoft JhengHei"/>
              </a:rPr>
              <a:t>Student / Teacher / Admin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2057400"/>
            <a:ext cx="1737360" cy="2331720"/>
          </a:xfrm>
          <a:prstGeom prst="roundRect">
            <a:avLst/>
          </a:prstGeom>
          <a:solidFill>
            <a:srgbClr val="E6F4F2"/>
          </a:solidFill>
          <a:ln w="19050">
            <a:solidFill>
              <a:srgbClr val="1F8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60320" y="21671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8A80"/>
                </a:solidFill>
                <a:latin typeface="Microsoft JhengHei"/>
                <a:ea typeface="Microsoft JhengHei"/>
              </a:rPr>
              <a:t>React Frontend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924692"/>
            <a:ext cx="1554480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主畫面、側欄、多對話、入口</a:t>
            </a:r>
            <a:endParaRPr sz="1100" b="0" dirty="0">
              <a:solidFill>
                <a:srgbClr val="1C2428"/>
              </a:solidFill>
              <a:latin typeface="Microsoft JhengHei"/>
              <a:ea typeface="Microsoft Jheng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560320" y="406908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F7A4F"/>
                </a:solidFill>
                <a:latin typeface="Microsoft JhengHei"/>
                <a:ea typeface="Microsoft JhengHei"/>
              </a:rPr>
              <a:t>TypeScript + Vite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2057400"/>
            <a:ext cx="17373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9120" y="21671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8A80"/>
                </a:solidFill>
                <a:latin typeface="Microsoft JhengHei"/>
                <a:ea typeface="Microsoft JhengHei"/>
              </a:rPr>
              <a:t>CampusAI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926081"/>
            <a:ext cx="1554480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JWT、對話持久化、校務</a:t>
            </a:r>
            <a:r>
              <a:rPr sz="1100" b="0" dirty="0">
                <a:solidFill>
                  <a:srgbClr val="1C2428"/>
                </a:solidFill>
                <a:latin typeface="Microsoft JhengHei"/>
                <a:ea typeface="Microsoft JhengHei"/>
              </a:rPr>
              <a:t>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06908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F7A4F"/>
                </a:solidFill>
                <a:latin typeface="Microsoft JhengHei"/>
                <a:ea typeface="Microsoft JhengHei"/>
              </a:rPr>
              <a:t>ASP.NET Core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2057400"/>
            <a:ext cx="1737360" cy="2331720"/>
          </a:xfrm>
          <a:prstGeom prst="roundRect">
            <a:avLst/>
          </a:prstGeom>
          <a:solidFill>
            <a:srgbClr val="E6F4F2"/>
          </a:solidFill>
          <a:ln w="19050">
            <a:solidFill>
              <a:srgbClr val="1F8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17920" y="21671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8A80"/>
                </a:solidFill>
                <a:latin typeface="Microsoft JhengHei"/>
                <a:ea typeface="Microsoft JhengHei"/>
              </a:rPr>
              <a:t>Personal Orchestrator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926081"/>
            <a:ext cx="1554480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意圖判斷、Agent</a:t>
            </a:r>
            <a:r>
              <a:rPr sz="1100" b="0" dirty="0">
                <a:solidFill>
                  <a:srgbClr val="1C2428"/>
                </a:solidFill>
                <a:latin typeface="Microsoft JhengHei"/>
                <a:ea typeface="Microsoft JhengHei"/>
              </a:rPr>
              <a:t> </a:t>
            </a:r>
            <a:r>
              <a:rPr sz="11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調度</a:t>
            </a:r>
            <a:endParaRPr sz="1100" b="0" dirty="0">
              <a:solidFill>
                <a:srgbClr val="1C2428"/>
              </a:solidFill>
              <a:latin typeface="Microsoft JhengHei"/>
              <a:ea typeface="Microsoft Jheng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217920" y="406908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F7A4F"/>
                </a:solidFill>
                <a:latin typeface="Microsoft JhengHei"/>
                <a:ea typeface="Microsoft JhengHei"/>
              </a:rPr>
              <a:t>Agent 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2057400"/>
            <a:ext cx="17373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46719" y="21671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8A80"/>
                </a:solidFill>
                <a:latin typeface="Microsoft JhengHei"/>
                <a:ea typeface="Microsoft JhengHei"/>
              </a:rPr>
              <a:t>MCP RAG Server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8" y="2923303"/>
            <a:ext cx="1554480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唯一功能：rag_retrieve</a:t>
            </a:r>
            <a:endParaRPr sz="1100" b="0" dirty="0">
              <a:solidFill>
                <a:srgbClr val="1C2428"/>
              </a:solidFill>
              <a:latin typeface="Microsoft JhengHei"/>
              <a:ea typeface="Microsoft JhengHe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046719" y="406908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F7A4F"/>
                </a:solidFill>
                <a:latin typeface="Microsoft JhengHei"/>
                <a:ea typeface="Microsoft JhengHei"/>
              </a:rPr>
              <a:t>C# · MCP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2057400"/>
            <a:ext cx="1737360" cy="2331720"/>
          </a:xfrm>
          <a:prstGeom prst="roundRect">
            <a:avLst/>
          </a:prstGeom>
          <a:solidFill>
            <a:srgbClr val="E6F4F2"/>
          </a:solidFill>
          <a:ln w="12700">
            <a:solidFill>
              <a:srgbClr val="1F8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75519" y="21671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8A80"/>
                </a:solidFill>
                <a:latin typeface="Microsoft JhengHei"/>
                <a:ea typeface="Microsoft JhengHei"/>
              </a:rPr>
              <a:t>資料來源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6905" y="2933489"/>
            <a:ext cx="1554480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dirty="0">
                <a:solidFill>
                  <a:srgbClr val="1C2428"/>
                </a:solidFill>
                <a:latin typeface="Microsoft JhengHei"/>
                <a:ea typeface="Microsoft JhengHei"/>
              </a:rPr>
              <a:t>SQL </a:t>
            </a:r>
            <a:r>
              <a:rPr sz="11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校務表</a:t>
            </a:r>
            <a:r>
              <a:rPr sz="1100" b="0" dirty="0">
                <a:solidFill>
                  <a:srgbClr val="1C2428"/>
                </a:solidFill>
                <a:latin typeface="Microsoft JhengHei"/>
                <a:ea typeface="Microsoft JhengHei"/>
              </a:rPr>
              <a:t> ＋ campus-</a:t>
            </a:r>
            <a:r>
              <a:rPr sz="11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docs.json</a:t>
            </a:r>
            <a:endParaRPr sz="1100" b="0" dirty="0">
              <a:solidFill>
                <a:srgbClr val="1C2428"/>
              </a:solidFill>
              <a:latin typeface="Microsoft JhengHei"/>
              <a:ea typeface="Microsoft JhengHe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875519" y="406908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F7A4F"/>
                </a:solidFill>
                <a:latin typeface="Microsoft JhengHei"/>
                <a:ea typeface="Microsoft JhengHei"/>
              </a:rPr>
              <a:t>SQL / JSON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709160"/>
            <a:ext cx="10881360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7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8680" y="484632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47A3A"/>
                </a:solidFill>
                <a:latin typeface="Microsoft JhengHei"/>
                <a:ea typeface="Microsoft JhengHei"/>
              </a:rPr>
              <a:t>關鍵分流策略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25780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Microsoft JhengHei"/>
                <a:ea typeface="Microsoft JhengHei"/>
              </a:rPr>
              <a:t>獎學金／選課／活動等校務操作 → 直接走校務 Tools，讀寫 SQL Server。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Microsoft JhengHei"/>
                <a:ea typeface="Microsoft JhengHei"/>
              </a:rPr>
              <a:t>校園規章、辦法等知識問答 → 才走 MCP rag_retrieve，再由 Gemini 整理回覆。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7607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C2428"/>
                </a:solidFill>
                <a:latin typeface="Microsoft JhengHei"/>
                <a:ea typeface="Microsoft JhengHei"/>
              </a:rPr>
              <a:t>系統分層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A656B"/>
                </a:solidFill>
                <a:latin typeface="Microsoft JhengHei"/>
                <a:ea typeface="Microsoft JhengHei"/>
              </a:rPr>
              <a:t>由上而下對齊目前程式結構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7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A656B"/>
                </a:solidFill>
                <a:latin typeface="Microsoft JhengHei"/>
                <a:ea typeface="Microsoft JhengHei"/>
              </a:rPr>
              <a:t>4/9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881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8A80"/>
                </a:solidFill>
                <a:latin typeface="Microsoft JhengHei"/>
                <a:ea typeface="Microsoft JhengHei"/>
              </a:rPr>
              <a:t>應用層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64592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C2428"/>
                </a:solidFill>
                <a:latin typeface="Microsoft JhengHei"/>
                <a:ea typeface="Microsoft JhengHei"/>
              </a:rPr>
              <a:t>React：主畫面、校務系統、平台服務、助理功能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42032"/>
            <a:ext cx="10881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7706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8A80"/>
                </a:solidFill>
                <a:latin typeface="Microsoft JhengHei"/>
                <a:ea typeface="Microsoft JhengHei"/>
              </a:rPr>
              <a:t>Agent 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816352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C2428"/>
                </a:solidFill>
                <a:latin typeface="Microsoft JhengHei"/>
                <a:ea typeface="Microsoft JhengHei"/>
              </a:rPr>
              <a:t>Personal Orchestrator ＋ 推薦／規劃／申請／溝通／提醒／分析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12464"/>
            <a:ext cx="10881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94106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8A80"/>
                </a:solidFill>
                <a:latin typeface="Microsoft JhengHei"/>
                <a:ea typeface="Microsoft JhengHei"/>
              </a:rPr>
              <a:t>API 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98678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C2428"/>
                </a:solidFill>
                <a:latin typeface="Microsoft JhengHei"/>
                <a:ea typeface="Microsoft JhengHei"/>
              </a:rPr>
              <a:t>校務 API、平台服務、JWT、對話與 MCP Client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82896"/>
            <a:ext cx="10881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11149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8A80"/>
                </a:solidFill>
                <a:latin typeface="Microsoft JhengHei"/>
                <a:ea typeface="Microsoft JhengHei"/>
              </a:rPr>
              <a:t>資料層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5157216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C2428"/>
                </a:solidFill>
                <a:latin typeface="Microsoft JhengHei"/>
                <a:ea typeface="Microsoft JhengHei"/>
              </a:rPr>
              <a:t>SQL Server 正式校務表；校園問答另接 MCP 找文件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7607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C2428"/>
                </a:solidFill>
                <a:latin typeface="Microsoft JhengHei"/>
                <a:ea typeface="Microsoft JhengHei"/>
              </a:rPr>
              <a:t>MCP Server 設計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A656B"/>
                </a:solidFill>
                <a:latin typeface="Microsoft JhengHei"/>
                <a:ea typeface="Microsoft JhengHei"/>
              </a:rPr>
              <a:t>極簡、無狀態的知識索取端點，單一職責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7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A656B"/>
                </a:solidFill>
                <a:latin typeface="Microsoft JhengHei"/>
                <a:ea typeface="Microsoft JhengHei"/>
              </a:rPr>
              <a:t>5/9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4754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zh-TW" sz="1600" b="1" dirty="0" err="1">
                <a:solidFill>
                  <a:srgbClr val="1F8A80"/>
                </a:solidFill>
                <a:latin typeface="Microsoft JhengHei"/>
                <a:ea typeface="Microsoft JhengHei"/>
              </a:rPr>
              <a:t>Server</a:t>
            </a:r>
            <a:r>
              <a:rPr sz="1600" b="1" dirty="0" err="1">
                <a:solidFill>
                  <a:srgbClr val="1F8A80"/>
                </a:solidFill>
                <a:latin typeface="Microsoft JhengHei"/>
                <a:ea typeface="Microsoft JhengHei"/>
              </a:rPr>
              <a:t>服務基本配置</a:t>
            </a:r>
            <a:endParaRPr sz="1600" b="1" dirty="0">
              <a:solidFill>
                <a:srgbClr val="1F8A80"/>
              </a:solidFill>
              <a:latin typeface="Microsoft JhengHei"/>
              <a:ea typeface="Microsoft Jheng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dirty="0" err="1">
                <a:solidFill>
                  <a:srgbClr val="5A656B"/>
                </a:solidFill>
                <a:latin typeface="Microsoft JhengHei"/>
                <a:ea typeface="Microsoft JhengHei"/>
              </a:rPr>
              <a:t>名稱</a:t>
            </a:r>
            <a:endParaRPr sz="1200" b="0" dirty="0">
              <a:solidFill>
                <a:srgbClr val="5A656B"/>
              </a:solidFill>
              <a:latin typeface="Microsoft JhengHei"/>
              <a:ea typeface="Microsoft Jheng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743200" y="205740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2428"/>
                </a:solidFill>
                <a:latin typeface="Microsoft JhengHei"/>
                <a:ea typeface="Microsoft JhengHei"/>
              </a:rPr>
              <a:t>mcp-rag-server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dirty="0" err="1">
                <a:solidFill>
                  <a:srgbClr val="5A656B"/>
                </a:solidFill>
                <a:latin typeface="Microsoft JhengHei"/>
                <a:ea typeface="Microsoft JhengHei"/>
              </a:rPr>
              <a:t>協定</a:t>
            </a:r>
            <a:endParaRPr sz="1200" b="0" dirty="0">
              <a:solidFill>
                <a:srgbClr val="5A656B"/>
              </a:solidFill>
              <a:latin typeface="Microsoft JhengHei"/>
              <a:ea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43200" y="24688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2428"/>
                </a:solidFill>
                <a:latin typeface="Microsoft JhengHei"/>
                <a:ea typeface="Microsoft JhengHei"/>
              </a:rPr>
              <a:t>MCP over HTTP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0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dirty="0" err="1">
                <a:solidFill>
                  <a:srgbClr val="5A656B"/>
                </a:solidFill>
                <a:latin typeface="Microsoft JhengHei"/>
                <a:ea typeface="Microsoft JhengHei"/>
              </a:rPr>
              <a:t>單一開放</a:t>
            </a:r>
            <a:r>
              <a:rPr sz="1200" b="0" dirty="0">
                <a:solidFill>
                  <a:srgbClr val="5A656B"/>
                </a:solidFill>
                <a:latin typeface="Microsoft JhengHei"/>
                <a:ea typeface="Microsoft JhengHei"/>
              </a:rPr>
              <a:t> 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88036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2428"/>
                </a:solidFill>
                <a:latin typeface="Microsoft JhengHei"/>
                <a:ea typeface="Microsoft JhengHei"/>
              </a:rPr>
              <a:t>rag_retrieve(query, topK)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91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56B"/>
                </a:solidFill>
                <a:latin typeface="Microsoft JhengHei"/>
                <a:ea typeface="Microsoft JhengHei"/>
              </a:rPr>
              <a:t>知識來源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291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2428"/>
                </a:solidFill>
                <a:latin typeface="Microsoft JhengHei"/>
                <a:ea typeface="Microsoft JhengHei"/>
              </a:rPr>
              <a:t>knowledge/campus-docs.json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319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1600" b="1">
                <a:solidFill>
                  <a:srgbClr val="1F8A80"/>
                </a:solidFill>
                <a:latin typeface="Microsoft JhengHei"/>
                <a:ea typeface="Microsoft JhengHei"/>
              </a:defRPr>
            </a:lvl1pPr>
          </a:lstStyle>
          <a:p>
            <a:r>
              <a:rPr dirty="0"/>
              <a:t>Server </a:t>
            </a:r>
            <a:r>
              <a:rPr lang="zh-TW" altLang="en-US" dirty="0"/>
              <a:t>未處理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868680" y="4389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03A3A"/>
                </a:solidFill>
                <a:latin typeface="Microsoft JhengHei"/>
                <a:ea typeface="Microsoft JhengHei"/>
              </a:rPr>
              <a:t>✕  不維護對話狀態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7548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03A3A"/>
                </a:solidFill>
                <a:latin typeface="Microsoft JhengHei"/>
                <a:ea typeface="Microsoft JhengHei"/>
              </a:rPr>
              <a:t>✕  不處理 JWT 與帳號登入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1206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03A3A"/>
                </a:solidFill>
                <a:latin typeface="Microsoft JhengHei"/>
                <a:ea typeface="Microsoft JhengHei"/>
              </a:rPr>
              <a:t>✕  不呼叫 LLM、不生成自然語言回覆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371600"/>
            <a:ext cx="53492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15544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8A80"/>
                </a:solidFill>
                <a:latin typeface="Microsoft JhengHei"/>
                <a:ea typeface="Microsoft JhengHei"/>
              </a:rPr>
              <a:t>Tool API 規格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057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8A80"/>
                </a:solidFill>
                <a:latin typeface="Microsoft JhengHei"/>
                <a:ea typeface="Microsoft JhengHei"/>
              </a:rPr>
              <a:t>輸入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3774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2428"/>
                </a:solidFill>
                <a:latin typeface="Microsoft JhengHei"/>
                <a:ea typeface="Microsoft JhengHei"/>
              </a:rPr>
              <a:t>query：自然語言問題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C2428"/>
                </a:solidFill>
                <a:latin typeface="Microsoft JhengHei"/>
                <a:ea typeface="Microsoft JhengHei"/>
              </a:rPr>
              <a:t>topK：回傳最相關片段數（預設 3）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2918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8A80"/>
                </a:solidFill>
                <a:latin typeface="Microsoft JhengHei"/>
                <a:ea typeface="Microsoft JhengHei"/>
              </a:rPr>
              <a:t>輸出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2428"/>
                </a:solidFill>
                <a:latin typeface="Microsoft JhengHei"/>
                <a:ea typeface="Microsoft JhengHei"/>
              </a:rPr>
              <a:t>Top-K 規章片段：標題、類別、內容、分數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C2428"/>
                </a:solidFill>
                <a:latin typeface="Microsoft JhengHei"/>
                <a:ea typeface="Microsoft JhengHei"/>
              </a:rPr>
              <a:t>僅回傳原始檢索結果，不做聊天包裝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5074920"/>
            <a:ext cx="4754880" cy="822960"/>
          </a:xfrm>
          <a:prstGeom prst="roundRect">
            <a:avLst/>
          </a:prstGeom>
          <a:solidFill>
            <a:srgbClr val="E6F4F2"/>
          </a:solidFill>
          <a:ln w="15875">
            <a:solidFill>
              <a:srgbClr val="1F8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83680" y="5257800"/>
            <a:ext cx="4389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dirty="0">
                <a:solidFill>
                  <a:srgbClr val="1F8A80"/>
                </a:solidFill>
                <a:latin typeface="Microsoft JhengHei"/>
                <a:ea typeface="Microsoft JhengHei"/>
              </a:rPr>
              <a:t>Server </a:t>
            </a:r>
            <a:r>
              <a:rPr sz="1400" b="1" dirty="0" err="1">
                <a:solidFill>
                  <a:srgbClr val="1F8A80"/>
                </a:solidFill>
                <a:latin typeface="Microsoft JhengHei"/>
                <a:ea typeface="Microsoft JhengHei"/>
              </a:rPr>
              <a:t>只檢索，不聊天</a:t>
            </a:r>
            <a:r>
              <a:rPr sz="1400" b="1" dirty="0">
                <a:solidFill>
                  <a:srgbClr val="1F8A80"/>
                </a:solidFill>
                <a:latin typeface="Microsoft JhengHei"/>
                <a:ea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7607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C2428"/>
                </a:solidFill>
                <a:latin typeface="Microsoft JhengHei"/>
                <a:ea typeface="Microsoft JhengHei"/>
              </a:rPr>
              <a:t>MCP Client／對話管理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A656B"/>
                </a:solidFill>
                <a:latin typeface="Microsoft JhengHei"/>
                <a:ea typeface="Microsoft JhengHei"/>
              </a:rPr>
              <a:t>統籌身分、對話持久化，並在需要時調度 MCP 與 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7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A656B"/>
                </a:solidFill>
                <a:latin typeface="Microsoft JhengHei"/>
                <a:ea typeface="Microsoft JhengHei"/>
              </a:rPr>
              <a:t>6/9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8A80"/>
                </a:solidFill>
                <a:latin typeface="Microsoft JhengHei"/>
                <a:ea typeface="Microsoft JhengHei"/>
              </a:rPr>
              <a:t>對話與身分持久化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C2428"/>
                </a:solidFill>
                <a:latin typeface="Microsoft JhengHei"/>
                <a:ea typeface="Microsoft JhengHei"/>
              </a:rPr>
              <a:t>JWT 身分驗證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A656B"/>
                </a:solidFill>
                <a:latin typeface="Microsoft JhengHei"/>
                <a:ea typeface="Microsoft JhengHei"/>
              </a:rPr>
              <a:t>學生／教師／行政角色分流；入口與功能依身分切換。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46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C2428"/>
                </a:solidFill>
                <a:latin typeface="Microsoft JhengHei"/>
                <a:ea typeface="Microsoft JhengHei"/>
              </a:rPr>
              <a:t>SQL Server 對話持久化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118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5A656B"/>
                </a:solidFill>
                <a:latin typeface="Microsoft JhengHei"/>
                <a:ea typeface="Microsoft JhengHei"/>
              </a:rPr>
              <a:t>後端寫入對話紀錄，可用 SSMS 查核。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A656B"/>
                </a:solidFill>
                <a:latin typeface="Microsoft JhengHei"/>
                <a:ea typeface="Microsoft JhengHei"/>
              </a:rPr>
              <a:t>前端側欄：新對話、切換多對話、歷史清單。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A656B"/>
                </a:solidFill>
                <a:latin typeface="Microsoft JhengHei"/>
                <a:ea typeface="Microsoft JhengHei"/>
              </a:rPr>
              <a:t>校務正式資料（成績、獎助、課程…）同庫管理。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71600"/>
            <a:ext cx="53492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8A80"/>
                </a:solidFill>
                <a:latin typeface="Microsoft JhengHei"/>
                <a:ea typeface="Microsoft JhengHei"/>
              </a:rPr>
              <a:t>知識整合與生成流程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F7A4F"/>
                </a:solidFill>
                <a:latin typeface="Microsoft JhengHei"/>
                <a:ea typeface="Microsoft JhengHei"/>
              </a:rPr>
              <a:t>1. 意圖評估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231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C2428"/>
                </a:solidFill>
                <a:latin typeface="Microsoft JhengHei"/>
                <a:ea typeface="Microsoft JhengHei"/>
              </a:rPr>
              <a:t>涉及校園規章等知識時，才呼叫 MCP rag_retrieve。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0175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F7A4F"/>
                </a:solidFill>
                <a:latin typeface="Microsoft JhengHei"/>
                <a:ea typeface="Microsoft JhengHei"/>
              </a:rPr>
              <a:t>2. 校務 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3375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C2428"/>
                </a:solidFill>
                <a:latin typeface="Microsoft JhengHei"/>
                <a:ea typeface="Microsoft JhengHei"/>
              </a:rPr>
              <a:t>獎學金／選課／活動等直接查 SQL，不經 MCP。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9319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F7A4F"/>
                </a:solidFill>
                <a:latin typeface="Microsoft JhengHei"/>
                <a:ea typeface="Microsoft JhengHei"/>
              </a:rPr>
              <a:t>3. Gemini 整理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251959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C2428"/>
                </a:solidFill>
                <a:latin typeface="Microsoft JhengHei"/>
                <a:ea typeface="Microsoft JhengHei"/>
              </a:rPr>
              <a:t>把查得結果與對話脈絡組成回覆。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5029200"/>
            <a:ext cx="4754880" cy="914400"/>
          </a:xfrm>
          <a:prstGeom prst="roundRect">
            <a:avLst/>
          </a:prstGeom>
          <a:solidFill>
            <a:srgbClr val="E6F4F2"/>
          </a:solidFill>
          <a:ln w="15875">
            <a:solidFill>
              <a:srgbClr val="1F8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0" y="521208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8A80"/>
                </a:solidFill>
                <a:latin typeface="Microsoft JhengHei"/>
                <a:ea typeface="Microsoft JhengHei"/>
              </a:rPr>
              <a:t>RAG 與對話解耦：檢索交給 MCP；安全與歷史交給 ASP.NET Core。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76072"/>
            <a:ext cx="9601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dirty="0">
                <a:solidFill>
                  <a:srgbClr val="1C2428"/>
                </a:solidFill>
                <a:latin typeface="Microsoft JhengHei"/>
                <a:ea typeface="Microsoft JhengHei"/>
              </a:rPr>
              <a:t>請</a:t>
            </a:r>
            <a:r>
              <a:rPr lang="zh-TW" altLang="en-US" sz="2600" b="1" dirty="0">
                <a:solidFill>
                  <a:srgbClr val="1C2428"/>
                </a:solidFill>
                <a:latin typeface="Microsoft JhengHei"/>
                <a:ea typeface="Microsoft JhengHei"/>
              </a:rPr>
              <a:t>求路徑</a:t>
            </a:r>
            <a:endParaRPr sz="2600" b="1" dirty="0">
              <a:solidFill>
                <a:srgbClr val="1C2428"/>
              </a:solidFill>
              <a:latin typeface="Microsoft JhengHei"/>
              <a:ea typeface="Microsoft Jheng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A656B"/>
                </a:solidFill>
                <a:latin typeface="Microsoft JhengHei"/>
                <a:ea typeface="Microsoft JhengHei"/>
              </a:rPr>
              <a:t>從輸入問題到畫面回覆的完整生命週期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7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A656B"/>
                </a:solidFill>
                <a:latin typeface="Microsoft JhengHei"/>
                <a:ea typeface="Microsoft JhengHei"/>
              </a:rPr>
              <a:t>7/9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1476102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1527048"/>
            <a:ext cx="129322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8A80"/>
                </a:solidFill>
                <a:latin typeface="Microsoft JhengHei"/>
                <a:ea typeface="Microsoft JhengHei"/>
              </a:rPr>
              <a:t>1 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1874519"/>
            <a:ext cx="129322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C2428"/>
                </a:solidFill>
                <a:latin typeface="Microsoft JhengHei"/>
                <a:ea typeface="Microsoft JhengHei"/>
              </a:rPr>
              <a:t>使用者在網站提問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07622" y="1417320"/>
            <a:ext cx="1476102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299062" y="1527048"/>
            <a:ext cx="129322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8A80"/>
                </a:solidFill>
                <a:latin typeface="Microsoft JhengHei"/>
                <a:ea typeface="Microsoft JhengHei"/>
              </a:rPr>
              <a:t>2 送出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9062" y="1874519"/>
            <a:ext cx="129322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C2428"/>
                </a:solidFill>
                <a:latin typeface="Microsoft JhengHei"/>
                <a:ea typeface="Microsoft JhengHei"/>
              </a:rPr>
              <a:t>帶 conversationId 與 JWT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75165" y="1417320"/>
            <a:ext cx="1476102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66605" y="1527048"/>
            <a:ext cx="129322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8A80"/>
                </a:solidFill>
                <a:latin typeface="Microsoft JhengHei"/>
                <a:ea typeface="Microsoft JhengHei"/>
              </a:rPr>
              <a:t>3 意圖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6605" y="1874519"/>
            <a:ext cx="129322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C2428"/>
                </a:solidFill>
                <a:latin typeface="Microsoft JhengHei"/>
                <a:ea typeface="Microsoft JhengHei"/>
              </a:rPr>
              <a:t>Orchestrator 判斷路徑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42708" y="1417320"/>
            <a:ext cx="1476102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34148" y="1527048"/>
            <a:ext cx="129322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8A80"/>
                </a:solidFill>
                <a:latin typeface="Microsoft JhengHei"/>
                <a:ea typeface="Microsoft JhengHei"/>
              </a:rPr>
              <a:t>4 分流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34148" y="1874519"/>
            <a:ext cx="129322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C2428"/>
                </a:solidFill>
                <a:latin typeface="Microsoft JhengHei"/>
                <a:ea typeface="Microsoft JhengHei"/>
              </a:rPr>
              <a:t>SQL 校務 或 MCP 檢索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10251" y="1417320"/>
            <a:ext cx="1476102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01691" y="1527048"/>
            <a:ext cx="129322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8A80"/>
                </a:solidFill>
                <a:latin typeface="Microsoft JhengHei"/>
                <a:ea typeface="Microsoft JhengHei"/>
              </a:rPr>
              <a:t>5 取回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1691" y="1874519"/>
            <a:ext cx="129322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C2428"/>
                </a:solidFill>
                <a:latin typeface="Microsoft JhengHei"/>
                <a:ea typeface="Microsoft JhengHei"/>
              </a:rPr>
              <a:t>成績／規章片段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77794" y="1417320"/>
            <a:ext cx="1476102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69234" y="1527048"/>
            <a:ext cx="129322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8A80"/>
                </a:solidFill>
                <a:latin typeface="Microsoft JhengHei"/>
                <a:ea typeface="Microsoft JhengHei"/>
              </a:rPr>
              <a:t>6 生成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69234" y="1874519"/>
            <a:ext cx="129322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C2428"/>
                </a:solidFill>
                <a:latin typeface="Microsoft JhengHei"/>
                <a:ea typeface="Microsoft JhengHei"/>
              </a:rPr>
              <a:t>Gemini 整理回覆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45337" y="1417320"/>
            <a:ext cx="1476102" cy="2011680"/>
          </a:xfrm>
          <a:prstGeom prst="roundRect">
            <a:avLst/>
          </a:prstGeom>
          <a:solidFill>
            <a:srgbClr val="E6F4F2"/>
          </a:solidFill>
          <a:ln w="19050">
            <a:solidFill>
              <a:srgbClr val="1F8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136777" y="1527048"/>
            <a:ext cx="129322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8A80"/>
                </a:solidFill>
                <a:latin typeface="Microsoft JhengHei"/>
                <a:ea typeface="Microsoft JhengHei"/>
              </a:rPr>
              <a:t>7 落地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36777" y="1874519"/>
            <a:ext cx="129322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C2428"/>
                </a:solidFill>
                <a:latin typeface="Microsoft JhengHei"/>
                <a:ea typeface="Microsoft JhengHei"/>
              </a:rPr>
              <a:t>SQL 存檔並渲染畫面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794760"/>
            <a:ext cx="108813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977639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8A80"/>
                </a:solidFill>
                <a:latin typeface="Microsoft JhengHei"/>
                <a:ea typeface="Microsoft JhengHei"/>
              </a:rPr>
              <a:t>兩條實際路徑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480560"/>
            <a:ext cx="10424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C2428"/>
                </a:solidFill>
                <a:latin typeface="Microsoft JhengHei"/>
                <a:ea typeface="Microsoft JhengHei"/>
              </a:rPr>
              <a:t>問獎學金／選課／活動 → API → 校務 Tools → SQL Server → Gemini 整理。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C2428"/>
                </a:solidFill>
                <a:latin typeface="Microsoft JhengHei"/>
                <a:ea typeface="Microsoft JhengHei"/>
              </a:rPr>
              <a:t>問校規／辦法 → API → MCP Client → rag_retrieve → campus-docs.json → Gemini 整理。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C2428"/>
                </a:solidFill>
                <a:latin typeface="Microsoft JhengHei"/>
                <a:ea typeface="Microsoft JhengHei"/>
              </a:rPr>
              <a:t>執行紀錄可看到工具呼叫軌跡（例如 Call tool: rag_retrieve）。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76072"/>
            <a:ext cx="9601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zh-TW" altLang="en-US" sz="2600" b="1" dirty="0">
                <a:solidFill>
                  <a:srgbClr val="1C2428"/>
                </a:solidFill>
                <a:latin typeface="Microsoft JhengHei"/>
                <a:ea typeface="Microsoft JhengHei"/>
              </a:rPr>
              <a:t>簡易測試</a:t>
            </a:r>
            <a:endParaRPr sz="2600" b="1" dirty="0">
              <a:solidFill>
                <a:srgbClr val="1C2428"/>
              </a:solidFill>
              <a:latin typeface="Microsoft JhengHei"/>
              <a:ea typeface="Microsoft Jheng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A656B"/>
                </a:solidFill>
                <a:latin typeface="Microsoft JhengHei"/>
                <a:ea typeface="Microsoft JhengHei"/>
              </a:rPr>
              <a:t>用同一套資料，對照資料庫、畫面與執行紀錄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7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A656B"/>
                </a:solidFill>
                <a:latin typeface="Microsoft JhengHei"/>
                <a:ea typeface="Microsoft JhengHei"/>
              </a:rPr>
              <a:t>8/9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5052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1645920"/>
            <a:ext cx="313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8A80"/>
                </a:solidFill>
                <a:latin typeface="Microsoft JhengHei"/>
                <a:ea typeface="Microsoft JhengHei"/>
              </a:rPr>
              <a:t>1. 資料庫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286000"/>
            <a:ext cx="3139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Microsoft JhengHei"/>
                <a:ea typeface="Microsoft JhengHei"/>
              </a:rPr>
              <a:t>SSMS 打開 Students，先看 GPA 與正式校務表。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4069080"/>
            <a:ext cx="2011680" cy="365760"/>
          </a:xfrm>
          <a:prstGeom prst="roundRect">
            <a:avLst/>
          </a:prstGeom>
          <a:solidFill>
            <a:srgbClr val="E6F4F2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59" y="4133087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1F8A80"/>
                </a:solidFill>
                <a:latin typeface="Microsoft JhengHei"/>
                <a:ea typeface="Microsoft JhengHei"/>
              </a:rPr>
              <a:t>SQL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8160" y="1417320"/>
            <a:ext cx="35052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11040" y="1645920"/>
            <a:ext cx="313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8A80"/>
                </a:solidFill>
                <a:latin typeface="Microsoft JhengHei"/>
                <a:ea typeface="Microsoft JhengHei"/>
              </a:rPr>
              <a:t>2. 主畫面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2286000"/>
            <a:ext cx="3139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Microsoft JhengHei"/>
                <a:ea typeface="Microsoft JhengHei"/>
              </a:rPr>
              <a:t>登入後走一圈：校務系統、平台服務、助理功能三塊入口。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11040" y="4069080"/>
            <a:ext cx="2011680" cy="365760"/>
          </a:xfrm>
          <a:prstGeom prst="roundRect">
            <a:avLst/>
          </a:prstGeom>
          <a:solidFill>
            <a:srgbClr val="E6F4F2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11040" y="4133087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1F8A80"/>
                </a:solidFill>
                <a:latin typeface="Microsoft JhengHei"/>
                <a:ea typeface="Microsoft JhengHei"/>
              </a:rPr>
              <a:t>React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6239" y="1417320"/>
            <a:ext cx="35052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99119" y="1645920"/>
            <a:ext cx="313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8A80"/>
                </a:solidFill>
                <a:latin typeface="Microsoft JhengHei"/>
                <a:ea typeface="Microsoft JhengHei"/>
              </a:rPr>
              <a:t>3. 精準問答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9119" y="2286000"/>
            <a:ext cx="3139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Microsoft JhengHei"/>
                <a:ea typeface="Microsoft JhengHei"/>
              </a:rPr>
              <a:t>問獎學金條件對照資料庫；問校規可見 MCP 軌跡。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99119" y="4069080"/>
            <a:ext cx="2011680" cy="365760"/>
          </a:xfrm>
          <a:prstGeom prst="roundRect">
            <a:avLst/>
          </a:prstGeom>
          <a:solidFill>
            <a:srgbClr val="E6F4F2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99119" y="4133087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1F8A80"/>
                </a:solidFill>
                <a:latin typeface="Microsoft JhengHei"/>
                <a:ea typeface="Microsoft JhengHei"/>
              </a:rPr>
              <a:t>RAG / 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029200"/>
            <a:ext cx="10881360" cy="1188720"/>
          </a:xfrm>
          <a:prstGeom prst="roundRect">
            <a:avLst/>
          </a:prstGeom>
          <a:solidFill>
            <a:srgbClr val="E6F4F2"/>
          </a:solidFill>
          <a:ln w="15875">
            <a:solidFill>
              <a:srgbClr val="1F8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212080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8A80"/>
                </a:solidFill>
                <a:latin typeface="Microsoft JhengHei"/>
                <a:ea typeface="Microsoft JhengHei"/>
              </a:rPr>
              <a:t>KEY CONCEPT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623560"/>
            <a:ext cx="104241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dirty="0" err="1">
                <a:solidFill>
                  <a:srgbClr val="1C2428"/>
                </a:solidFill>
                <a:latin typeface="Microsoft JhengHei"/>
                <a:ea typeface="Microsoft JhengHei"/>
              </a:rPr>
              <a:t>入口依身分與功能分</a:t>
            </a:r>
            <a:r>
              <a:rPr lang="zh-TW" altLang="en-US" sz="1500" b="1" dirty="0">
                <a:solidFill>
                  <a:srgbClr val="1C2428"/>
                </a:solidFill>
                <a:latin typeface="Microsoft JhengHei"/>
                <a:ea typeface="Microsoft JhengHei"/>
              </a:rPr>
              <a:t>，</a:t>
            </a:r>
            <a:r>
              <a:rPr sz="1500" b="1" dirty="0" err="1">
                <a:solidFill>
                  <a:srgbClr val="1C2428"/>
                </a:solidFill>
                <a:latin typeface="Microsoft JhengHei"/>
                <a:ea typeface="Microsoft JhengHei"/>
              </a:rPr>
              <a:t>校務資料在</a:t>
            </a:r>
            <a:r>
              <a:rPr sz="1500" b="1" dirty="0">
                <a:solidFill>
                  <a:srgbClr val="1C2428"/>
                </a:solidFill>
                <a:latin typeface="Microsoft JhengHei"/>
                <a:ea typeface="Microsoft JhengHei"/>
              </a:rPr>
              <a:t> SQL</a:t>
            </a:r>
            <a:r>
              <a:rPr lang="zh-TW" altLang="en-US" sz="1500" b="1" dirty="0">
                <a:solidFill>
                  <a:srgbClr val="1C2428"/>
                </a:solidFill>
                <a:latin typeface="Microsoft JhengHei"/>
                <a:ea typeface="Microsoft JhengHei"/>
              </a:rPr>
              <a:t>，</a:t>
            </a:r>
            <a:r>
              <a:rPr sz="1500" b="1" dirty="0" err="1">
                <a:solidFill>
                  <a:srgbClr val="1C2428"/>
                </a:solidFill>
                <a:latin typeface="Microsoft JhengHei"/>
                <a:ea typeface="Microsoft JhengHei"/>
              </a:rPr>
              <a:t>問答找文件走</a:t>
            </a:r>
            <a:r>
              <a:rPr sz="1500" b="1" dirty="0">
                <a:solidFill>
                  <a:srgbClr val="1C2428"/>
                </a:solidFill>
                <a:latin typeface="Microsoft JhengHei"/>
                <a:ea typeface="Microsoft JhengHei"/>
              </a:rPr>
              <a:t> MCP</a:t>
            </a:r>
            <a:r>
              <a:rPr lang="zh-TW" altLang="en-US" sz="1500" b="1" dirty="0">
                <a:solidFill>
                  <a:srgbClr val="1C2428"/>
                </a:solidFill>
                <a:latin typeface="Microsoft JhengHei"/>
                <a:ea typeface="Microsoft JhengHei"/>
              </a:rPr>
              <a:t>，</a:t>
            </a:r>
            <a:r>
              <a:rPr sz="1500" b="1" dirty="0" err="1">
                <a:solidFill>
                  <a:srgbClr val="1C2428"/>
                </a:solidFill>
                <a:latin typeface="Microsoft JhengHei"/>
                <a:ea typeface="Microsoft JhengHei"/>
              </a:rPr>
              <a:t>回覆由</a:t>
            </a:r>
            <a:r>
              <a:rPr sz="1500" b="1" dirty="0">
                <a:solidFill>
                  <a:srgbClr val="1C2428"/>
                </a:solidFill>
                <a:latin typeface="Microsoft JhengHei"/>
                <a:ea typeface="Microsoft JhengHei"/>
              </a:rPr>
              <a:t> Gemini </a:t>
            </a:r>
            <a:r>
              <a:rPr sz="1500" b="1" dirty="0" err="1">
                <a:solidFill>
                  <a:srgbClr val="1C2428"/>
                </a:solidFill>
                <a:latin typeface="Microsoft JhengHei"/>
                <a:ea typeface="Microsoft JhengHei"/>
              </a:rPr>
              <a:t>整理</a:t>
            </a:r>
            <a:r>
              <a:rPr sz="1500" b="1" dirty="0">
                <a:solidFill>
                  <a:srgbClr val="1C2428"/>
                </a:solidFill>
                <a:latin typeface="Microsoft JhengHei"/>
                <a:ea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103120" y="1828800"/>
            <a:ext cx="7955279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103120" y="224028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200" b="1">
                <a:solidFill>
                  <a:srgbClr val="1F8A80"/>
                </a:solidFill>
                <a:latin typeface="Microsoft JhengHei"/>
                <a:ea typeface="Microsoft JhengHei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310896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5A656B"/>
                </a:solidFill>
                <a:latin typeface="Microsoft JhengHei"/>
                <a:ea typeface="Microsoft JhengHei"/>
              </a:rPr>
              <a:t>Campus AI｜校園個人化助理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3749039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C2428"/>
                </a:solidFill>
                <a:latin typeface="Microsoft JhengHei"/>
                <a:ea typeface="Microsoft JhengHei"/>
              </a:rPr>
              <a:t>報告人：呂紹瑜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620</Words>
  <Application>Microsoft Office PowerPoint</Application>
  <PresentationFormat>寬螢幕</PresentationFormat>
  <Paragraphs>143</Paragraphs>
  <Slides>9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4" baseType="lpstr">
      <vt:lpstr>Microsoft JhengHei</vt:lpstr>
      <vt:lpstr>Aptos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e46032</cp:lastModifiedBy>
  <cp:revision>3</cp:revision>
  <dcterms:created xsi:type="dcterms:W3CDTF">2013-01-27T09:14:16Z</dcterms:created>
  <dcterms:modified xsi:type="dcterms:W3CDTF">2026-09-14T14:13:00Z</dcterms:modified>
  <cp:category/>
</cp:coreProperties>
</file>