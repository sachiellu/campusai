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28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40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C2428"/>
                </a:solidFill>
                <a:latin typeface="Microsoft JhengHei"/>
                <a:ea typeface="Microsoft JhengHei"/>
              </a:rPr>
              <a:t>校園學生服務個人化 AI 助理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A656B"/>
                </a:solidFill>
                <a:latin typeface="Microsoft JhengHei"/>
                <a:ea typeface="Microsoft JhengHei"/>
              </a:rPr>
              <a:t>提供學生、教師、行政使用的校園助理：處理獎學金、選課、活動與校務相關問題。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A656B"/>
                </a:solidFill>
                <a:latin typeface="Microsoft JhengHei"/>
                <a:ea typeface="Microsoft JhengHei"/>
              </a:rPr>
              <a:t>系統先取得校務資料與文件，再由 Gemini 整理成回覆。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09160"/>
            <a:ext cx="141732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773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4709160"/>
            <a:ext cx="178308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48840" y="477316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ASP.NET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4709160"/>
            <a:ext cx="178308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23360" y="477316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SQL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4709160"/>
            <a:ext cx="141732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7880" y="4773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JWT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709160"/>
            <a:ext cx="141732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4773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Gemini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4709160"/>
            <a:ext cx="1417320" cy="365760"/>
          </a:xfrm>
          <a:prstGeom prst="roundRect">
            <a:avLst/>
          </a:prstGeom>
          <a:solidFill>
            <a:srgbClr val="E6F4F2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15400" y="4773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F8A80"/>
                </a:solidFill>
                <a:latin typeface="Microsoft JhengHei"/>
                <a:ea typeface="Microsoft JhengHei"/>
              </a:rPr>
              <a:t>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2428"/>
                </a:solidFill>
                <a:latin typeface="Microsoft JhengHei"/>
                <a:ea typeface="Microsoft JhengHei"/>
              </a:rPr>
              <a:t>簡報人：（請填姓名）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7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dirty="0" err="1">
                <a:solidFill>
                  <a:srgbClr val="1C2428"/>
                </a:solidFill>
                <a:latin typeface="Microsoft JhengHei"/>
                <a:ea typeface="Microsoft JhengHei"/>
              </a:rPr>
              <a:t>這套系統在做什麼</a:t>
            </a:r>
            <a:r>
              <a:rPr lang="en-US" altLang="zh-TW" sz="2800" b="1" dirty="0">
                <a:solidFill>
                  <a:srgbClr val="1C2428"/>
                </a:solidFill>
                <a:latin typeface="Microsoft JhengHei"/>
                <a:ea typeface="Microsoft JhengHei"/>
              </a:rPr>
              <a:t>?</a:t>
            </a:r>
            <a:endParaRPr sz="2800" b="1" dirty="0">
              <a:solidFill>
                <a:srgbClr val="1C2428"/>
              </a:solidFill>
              <a:latin typeface="Microsoft JhengHei"/>
              <a:ea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2/9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881360" cy="13716"/>
          </a:xfrm>
          <a:prstGeom prst="rect">
            <a:avLst/>
          </a:prstGeom>
          <a:solidFill>
            <a:srgbClr val="D4D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zh-TW" altLang="en-US" dirty="0">
                <a:solidFill>
                  <a:srgbClr val="1C2428"/>
                </a:solidFill>
                <a:latin typeface="Microsoft JhengHei"/>
                <a:ea typeface="Microsoft JhengHei"/>
              </a:rPr>
              <a:t>這套系統根據校園不同身分有不同入口的個人化</a:t>
            </a:r>
            <a:r>
              <a:rPr lang="en-US" altLang="zh-TW" dirty="0">
                <a:solidFill>
                  <a:srgbClr val="1C2428"/>
                </a:solidFill>
                <a:latin typeface="Microsoft JhengHei"/>
                <a:ea typeface="Microsoft JhengHei"/>
              </a:rPr>
              <a:t>AI</a:t>
            </a:r>
            <a:r>
              <a:rPr lang="zh-TW" altLang="en-US" dirty="0">
                <a:solidFill>
                  <a:srgbClr val="1C2428"/>
                </a:solidFill>
                <a:latin typeface="Microsoft JhengHei"/>
                <a:ea typeface="Microsoft JhengHei"/>
              </a:rPr>
              <a:t>助理系統。</a:t>
            </a:r>
            <a:endParaRPr lang="en-US" sz="1800" b="0" dirty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>
              <a:spcAft>
                <a:spcPts val="1000"/>
              </a:spcAft>
            </a:pPr>
            <a:r>
              <a:rPr lang="zh-TW" altLang="en-US" sz="1800" b="0" dirty="0">
                <a:solidFill>
                  <a:srgbClr val="1C2428"/>
                </a:solidFill>
                <a:latin typeface="Microsoft JhengHei"/>
                <a:ea typeface="Microsoft JhengHei"/>
              </a:rPr>
              <a:t>例如</a:t>
            </a:r>
            <a:r>
              <a:rPr lang="zh-TW" altLang="en-US" dirty="0">
                <a:solidFill>
                  <a:srgbClr val="1C2428"/>
                </a:solidFill>
                <a:latin typeface="Microsoft JhengHei"/>
                <a:ea typeface="Microsoft JhengHei"/>
              </a:rPr>
              <a:t>學生比較關注</a:t>
            </a:r>
            <a:r>
              <a:rPr sz="18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校園裡</a:t>
            </a:r>
            <a:r>
              <a:rPr lang="zh-TW" altLang="en-US" sz="1800" b="0" dirty="0">
                <a:solidFill>
                  <a:srgbClr val="1C2428"/>
                </a:solidFill>
                <a:latin typeface="Microsoft JhengHei"/>
                <a:ea typeface="Microsoft JhengHei"/>
              </a:rPr>
              <a:t>的</a:t>
            </a:r>
            <a:r>
              <a:rPr sz="18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獎助、選課、活動</a:t>
            </a:r>
            <a:r>
              <a:rPr lang="zh-TW" altLang="en-US" sz="1800" b="0" dirty="0">
                <a:solidFill>
                  <a:srgbClr val="1C2428"/>
                </a:solidFill>
                <a:latin typeface="Microsoft JhengHei"/>
                <a:ea typeface="Microsoft JhengHei"/>
              </a:rPr>
              <a:t>的相關資訊。</a:t>
            </a:r>
            <a:endParaRPr lang="en-US" sz="1800" b="0" dirty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>
              <a:spcAft>
                <a:spcPts val="1000"/>
              </a:spcAft>
            </a:pPr>
            <a:r>
              <a:rPr lang="zh-TW" altLang="en-US" dirty="0">
                <a:solidFill>
                  <a:srgbClr val="1C2428"/>
                </a:solidFill>
                <a:latin typeface="Microsoft JhengHei"/>
                <a:ea typeface="Microsoft JhengHei"/>
              </a:rPr>
              <a:t>而教師比較常接觸如導</a:t>
            </a:r>
            <a:r>
              <a:rPr lang="zh-TW" altLang="en-US" sz="1800" b="0" dirty="0">
                <a:solidFill>
                  <a:srgbClr val="1C2428"/>
                </a:solidFill>
                <a:latin typeface="Microsoft JhengHei"/>
                <a:ea typeface="Microsoft JhengHei"/>
              </a:rPr>
              <a:t>生關懷、門檻提醒。</a:t>
            </a:r>
            <a:endParaRPr lang="en-US" altLang="zh-TW" sz="1800" b="0" dirty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1000"/>
              </a:spcAft>
            </a:pPr>
            <a:r>
              <a:rPr lang="zh-TW" altLang="en-US" dirty="0">
                <a:solidFill>
                  <a:srgbClr val="1C2428"/>
                </a:solidFill>
                <a:latin typeface="Microsoft JhengHei"/>
                <a:ea typeface="Microsoft JhengHei"/>
              </a:rPr>
              <a:t>而行政則比較在乎校務研究、決策支援、行政流程等。</a:t>
            </a:r>
            <a:endParaRPr sz="1800" b="0" dirty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1000"/>
              </a:spcAft>
            </a:pPr>
            <a:r>
              <a:rPr lang="zh-TW" altLang="en-US" sz="1800" b="0" dirty="0">
                <a:solidFill>
                  <a:srgbClr val="1C2428"/>
                </a:solidFill>
                <a:latin typeface="Microsoft JhengHei"/>
                <a:ea typeface="Microsoft JhengHei"/>
              </a:rPr>
              <a:t>根據不同身分會切換到不同入口</a:t>
            </a:r>
            <a:r>
              <a:rPr sz="1800" b="0" dirty="0">
                <a:solidFill>
                  <a:srgbClr val="1C2428"/>
                </a:solidFill>
                <a:latin typeface="Microsoft JhengHei"/>
                <a:ea typeface="Microsoft JhengHei"/>
              </a:rPr>
              <a:t>。</a:t>
            </a:r>
          </a:p>
          <a:p>
            <a:pPr algn="l">
              <a:spcAft>
                <a:spcPts val="1000"/>
              </a:spcAft>
            </a:pPr>
            <a:endParaRPr sz="1800" b="0" dirty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1000"/>
              </a:spcAft>
            </a:pPr>
            <a:r>
              <a:rPr sz="18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需求用對話提出，系統查資料後回覆</a:t>
            </a:r>
            <a:r>
              <a:rPr sz="1800" b="0" dirty="0">
                <a:solidFill>
                  <a:srgbClr val="1C2428"/>
                </a:solidFill>
                <a:latin typeface="Microsoft JhengHei"/>
                <a:ea typeface="Microsoft JhengHei"/>
              </a:rPr>
              <a:t>。</a:t>
            </a:r>
          </a:p>
          <a:p>
            <a:pPr algn="l">
              <a:spcAft>
                <a:spcPts val="1000"/>
              </a:spcAft>
            </a:pPr>
            <a:r>
              <a:rPr sz="18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資格與成績來自</a:t>
            </a:r>
            <a:r>
              <a:rPr sz="1800" b="0" dirty="0">
                <a:solidFill>
                  <a:srgbClr val="1C2428"/>
                </a:solidFill>
                <a:latin typeface="Microsoft JhengHei"/>
                <a:ea typeface="Microsoft JhengHei"/>
              </a:rPr>
              <a:t> SQL </a:t>
            </a:r>
            <a:r>
              <a:rPr sz="18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Server；校園問答會另外檢索規章文件</a:t>
            </a:r>
            <a:r>
              <a:rPr sz="1800" b="0" dirty="0">
                <a:solidFill>
                  <a:srgbClr val="1C2428"/>
                </a:solidFill>
                <a:latin typeface="Microsoft JhengHei"/>
                <a:ea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76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dirty="0" err="1">
                <a:solidFill>
                  <a:srgbClr val="1C2428"/>
                </a:solidFill>
                <a:latin typeface="Microsoft JhengHei"/>
                <a:ea typeface="Microsoft JhengHei"/>
              </a:rPr>
              <a:t>系統架構</a:t>
            </a:r>
            <a:endParaRPr sz="2600" b="1" dirty="0">
              <a:solidFill>
                <a:srgbClr val="1C2428"/>
              </a:solidFill>
              <a:latin typeface="Microsoft JhengHei"/>
              <a:ea typeface="Microsoft Jheng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3/9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應用層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554480"/>
            <a:ext cx="80467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dirty="0">
                <a:solidFill>
                  <a:srgbClr val="1C2428"/>
                </a:solidFill>
                <a:latin typeface="Microsoft JhengHei"/>
                <a:ea typeface="Microsoft JhengHei"/>
              </a:rPr>
              <a:t>React</a:t>
            </a:r>
            <a:endParaRPr lang="en-US" sz="1500" b="0" dirty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600"/>
              </a:spcAft>
            </a:pPr>
            <a:r>
              <a:rPr sz="15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主畫面、校務系統、平台服務、AI</a:t>
            </a:r>
            <a:r>
              <a:rPr sz="1500" b="0" dirty="0">
                <a:solidFill>
                  <a:srgbClr val="1C2428"/>
                </a:solidFill>
                <a:latin typeface="Microsoft JhengHei"/>
                <a:ea typeface="Microsoft JhengHei"/>
              </a:rPr>
              <a:t> </a:t>
            </a:r>
            <a:r>
              <a:rPr sz="15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功能</a:t>
            </a:r>
            <a:endParaRPr sz="1500" b="0" dirty="0">
              <a:solidFill>
                <a:srgbClr val="1C2428"/>
              </a:solidFill>
              <a:latin typeface="Microsoft JhengHei"/>
              <a:ea typeface="Microsoft Jheng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496312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6791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Agent 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24912"/>
            <a:ext cx="8046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調度推薦／規劃／申請／溝通／提醒／分析</a:t>
            </a:r>
            <a:endParaRPr sz="1500" b="0" dirty="0">
              <a:solidFill>
                <a:srgbClr val="1C2428"/>
              </a:solidFill>
              <a:latin typeface="Microsoft JhengHei"/>
              <a:ea typeface="Microsoft JhengHe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666744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84962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API 服務層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895344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校務 API（學生、課程、活動…）與平台服務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37176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02005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資料層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5065776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SQL Server 校務資料表；校園問答另接 MCP RAG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76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依身分提供不同功能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同一入口，三種角色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4/9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05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F7A4F"/>
                </a:solidFill>
                <a:latin typeface="Microsoft JhengHei"/>
                <a:ea typeface="Microsoft JhengHei"/>
              </a:rPr>
              <a:t>學生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60320"/>
            <a:ext cx="313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獎學金、選課規劃、校園活動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1417320"/>
            <a:ext cx="3505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1040" y="178308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8A80"/>
                </a:solidFill>
                <a:latin typeface="Microsoft JhengHei"/>
                <a:ea typeface="Microsoft JhengHei"/>
              </a:rPr>
              <a:t>教師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560320"/>
            <a:ext cx="313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導生關懷、門檻提醒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39" y="1417320"/>
            <a:ext cx="3505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99119" y="1783080"/>
            <a:ext cx="313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47A3A"/>
                </a:solidFill>
                <a:latin typeface="Microsoft JhengHei"/>
                <a:ea typeface="Microsoft JhengHei"/>
              </a:rPr>
              <a:t>行政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9119" y="2560320"/>
            <a:ext cx="313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校務研究、決策支援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A656B"/>
                </a:solidFill>
                <a:latin typeface="Microsoft JhengHei"/>
                <a:ea typeface="Microsoft JhengHei"/>
              </a:rPr>
              <a:t>登入時先選身分，主畫面與 AI 功能會跟著改變。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A656B"/>
                </a:solidFill>
                <a:latin typeface="Microsoft JhengHei"/>
                <a:ea typeface="Microsoft JhengHei"/>
              </a:rPr>
              <a:t>這樣設計是對應真實校園分工，不是做三套獨立系統。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7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C2428"/>
                </a:solidFill>
                <a:latin typeface="Microsoft JhengHei"/>
                <a:ea typeface="Microsoft JhengHei"/>
              </a:rPr>
              <a:t>主畫面為什麼拆成三塊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5/9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881360" cy="13716"/>
          </a:xfrm>
          <a:prstGeom prst="rect">
            <a:avLst/>
          </a:prstGeom>
          <a:solidFill>
            <a:srgbClr val="D4D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3995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主畫面是總入口</a:t>
            </a:r>
            <a:r>
              <a:rPr sz="1700" b="0" dirty="0">
                <a:solidFill>
                  <a:srgbClr val="1C2428"/>
                </a:solidFill>
                <a:latin typeface="Microsoft JhengHei"/>
                <a:ea typeface="Microsoft JhengHei"/>
              </a:rPr>
              <a:t>。</a:t>
            </a:r>
          </a:p>
          <a:p>
            <a:pPr algn="l">
              <a:spcAft>
                <a:spcPts val="800"/>
              </a:spcAft>
            </a:pPr>
            <a:endParaRPr sz="1700" b="0" dirty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800"/>
              </a:spcAft>
            </a:pPr>
            <a:r>
              <a:rPr sz="17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校務系統：放學生資料、課程、活動、申請、行事曆等入口</a:t>
            </a:r>
            <a:r>
              <a:rPr sz="1700" b="0" dirty="0">
                <a:solidFill>
                  <a:srgbClr val="1C2428"/>
                </a:solidFill>
                <a:latin typeface="Microsoft JhengHei"/>
                <a:ea typeface="Microsoft JhengHei"/>
              </a:rPr>
              <a:t>，</a:t>
            </a:r>
          </a:p>
          <a:p>
            <a:pPr algn="l">
              <a:spcAft>
                <a:spcPts val="800"/>
              </a:spcAft>
            </a:pPr>
            <a:r>
              <a:rPr sz="17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對應之後要接的真實校務功能</a:t>
            </a:r>
            <a:r>
              <a:rPr sz="1700" b="0" dirty="0">
                <a:solidFill>
                  <a:srgbClr val="1C2428"/>
                </a:solidFill>
                <a:latin typeface="Microsoft JhengHei"/>
                <a:ea typeface="Microsoft JhengHei"/>
              </a:rPr>
              <a:t>。</a:t>
            </a:r>
          </a:p>
          <a:p>
            <a:pPr algn="l">
              <a:spcAft>
                <a:spcPts val="800"/>
              </a:spcAft>
            </a:pPr>
            <a:endParaRPr sz="1700" b="0" dirty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800"/>
              </a:spcAft>
            </a:pPr>
            <a:r>
              <a:rPr sz="17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平台服務：身分驗證、權限、Tool</a:t>
            </a:r>
            <a:r>
              <a:rPr sz="1700" b="0" dirty="0">
                <a:solidFill>
                  <a:srgbClr val="1C2428"/>
                </a:solidFill>
                <a:latin typeface="Microsoft JhengHei"/>
                <a:ea typeface="Microsoft JhengHei"/>
              </a:rPr>
              <a:t> </a:t>
            </a:r>
            <a:r>
              <a:rPr sz="17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Calling，對應平台能力</a:t>
            </a:r>
            <a:r>
              <a:rPr sz="1700" b="0" dirty="0">
                <a:solidFill>
                  <a:srgbClr val="1C2428"/>
                </a:solidFill>
                <a:latin typeface="Microsoft JhengHei"/>
                <a:ea typeface="Microsoft JhengHei"/>
              </a:rPr>
              <a:t>。</a:t>
            </a:r>
          </a:p>
          <a:p>
            <a:pPr algn="l">
              <a:spcAft>
                <a:spcPts val="800"/>
              </a:spcAft>
            </a:pPr>
            <a:endParaRPr sz="1700" b="0" dirty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1C2428"/>
                </a:solidFill>
                <a:latin typeface="Microsoft JhengHei"/>
                <a:ea typeface="Microsoft JhengHei"/>
              </a:rPr>
              <a:t>AI </a:t>
            </a:r>
            <a:r>
              <a:rPr sz="17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功能：現在可以實際對話的助理（問答、獎學金、選課、活動</a:t>
            </a:r>
            <a:r>
              <a:rPr sz="1700" b="0" dirty="0">
                <a:solidFill>
                  <a:srgbClr val="1C2428"/>
                </a:solidFill>
                <a:latin typeface="Microsoft JhengHei"/>
                <a:ea typeface="Microsoft JhengHei"/>
              </a:rPr>
              <a:t>）。</a:t>
            </a:r>
          </a:p>
          <a:p>
            <a:pPr algn="l">
              <a:spcAft>
                <a:spcPts val="800"/>
              </a:spcAft>
            </a:pPr>
            <a:endParaRPr sz="1700" b="0" dirty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800"/>
              </a:spcAft>
            </a:pPr>
            <a:r>
              <a:rPr sz="17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拆開是為了讓人看出：哪些是校務入口、哪些是平台、哪些是助理</a:t>
            </a:r>
            <a:r>
              <a:rPr sz="1700" b="0" dirty="0">
                <a:solidFill>
                  <a:srgbClr val="1C2428"/>
                </a:solidFill>
                <a:latin typeface="Microsoft JhengHei"/>
                <a:ea typeface="Microsoft JhengHei"/>
              </a:rPr>
              <a:t>，</a:t>
            </a:r>
          </a:p>
          <a:p>
            <a:pPr algn="l">
              <a:spcAft>
                <a:spcPts val="800"/>
              </a:spcAft>
            </a:pPr>
            <a:r>
              <a:rPr sz="1700" b="0" dirty="0" err="1">
                <a:solidFill>
                  <a:srgbClr val="1C2428"/>
                </a:solidFill>
                <a:latin typeface="Microsoft JhengHei"/>
                <a:ea typeface="Microsoft JhengHei"/>
              </a:rPr>
              <a:t>而不是把所有事情塞進同一個聊天視窗</a:t>
            </a:r>
            <a:r>
              <a:rPr sz="1700" b="0" dirty="0">
                <a:solidFill>
                  <a:srgbClr val="1C2428"/>
                </a:solidFill>
                <a:latin typeface="Microsoft JhengHei"/>
                <a:ea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76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技術棧與資料庫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6/9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前端：React + TypeScript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後端：C# ASP.NET Core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驗證：JWT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資料庫：SQL Server（CampusAI）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語言模型：Gemini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文件檢索：MCP RAG Server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通訊：REST、camelCase JSON</a:t>
            </a:r>
          </a:p>
          <a:p>
            <a:pPr algn="l">
              <a:spcAft>
                <a:spcPts val="900"/>
              </a:spcAft>
            </a:pPr>
            <a:endParaRPr sz="1600" b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助理用到的 GPA、獎學金條件，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都存在資料表，可用 SSMS 打開查看。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8A80"/>
                </a:solidFill>
                <a:latin typeface="Microsoft JhengHei"/>
                <a:ea typeface="Microsoft JhengHei"/>
              </a:rPr>
              <a:t>主要資料表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Users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Students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StudentCompletedCourses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Courses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Scholarships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Activities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C2428"/>
                </a:solidFill>
                <a:latin typeface="Microsoft JhengHei"/>
                <a:ea typeface="Microsoft JhengHei"/>
              </a:rPr>
              <a:t>ChatConversations / Messages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76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C2428"/>
                </a:solidFill>
                <a:latin typeface="Microsoft JhengHei"/>
                <a:ea typeface="Microsoft JhengHei"/>
              </a:rPr>
              <a:t>校園問答與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56B"/>
                </a:solidFill>
                <a:latin typeface="Microsoft JhengHei"/>
                <a:ea typeface="Microsoft JhengHei"/>
              </a:rPr>
              <a:t>文件檢索與對話分流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7/9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103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1600200"/>
            <a:ext cx="195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使用者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468880"/>
            <a:ext cx="1956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371600"/>
            <a:ext cx="2103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7791" y="1600200"/>
            <a:ext cx="195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1" y="2468880"/>
            <a:ext cx="1956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Agent／JWT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371600"/>
            <a:ext cx="2103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02352" y="1600200"/>
            <a:ext cx="195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MCP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468880"/>
            <a:ext cx="1956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後端呼叫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59" y="1371600"/>
            <a:ext cx="2103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96912" y="1600200"/>
            <a:ext cx="195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RAG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2468880"/>
            <a:ext cx="1956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rag_retrieve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19" y="1371600"/>
            <a:ext cx="2103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91472" y="1600200"/>
            <a:ext cx="195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8A80"/>
                </a:solidFill>
                <a:latin typeface="Microsoft JhengHei"/>
                <a:ea typeface="Microsoft JhengHei"/>
              </a:rPr>
              <a:t>知識庫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2468880"/>
            <a:ext cx="1956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C2428"/>
                </a:solidFill>
                <a:latin typeface="Microsoft JhengHei"/>
                <a:ea typeface="Microsoft JhengHei"/>
              </a:rPr>
              <a:t>規章文件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獎學金、選課、活動：讀 SQL 校務資料。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校園問答：呼叫 MCP 檢索規章。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對話歷史與登入狀態由 API 與資料庫管理。</a:t>
            </a:r>
          </a:p>
          <a:p>
            <a:pPr algn="l">
              <a:spcAft>
                <a:spcPts val="800"/>
              </a:spcAft>
            </a:pPr>
            <a:endParaRPr sz="1600" b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428"/>
                </a:solidFill>
                <a:latin typeface="Microsoft JhengHei"/>
                <a:ea typeface="Microsoft JhengHei"/>
              </a:rPr>
              <a:t>一次提問大致是：前端送出 → Agent 判斷 → 查資料或 MCP → Gemini 整理 → 存檔顯示。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7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C2428"/>
                </a:solidFill>
                <a:latin typeface="Microsoft JhengHei"/>
                <a:ea typeface="Microsoft JhengHei"/>
              </a:rPr>
              <a:t>Demo 怎麼帶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A656B"/>
                </a:solidFill>
                <a:latin typeface="Microsoft JhengHei"/>
                <a:ea typeface="Microsoft JhengHei"/>
              </a:rPr>
              <a:t>8/9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881360" cy="13716"/>
          </a:xfrm>
          <a:prstGeom prst="rect">
            <a:avLst/>
          </a:prstGeom>
          <a:solidFill>
            <a:srgbClr val="D4D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1. SSMS 開啟 CampusAI → Students，指出 GPA。</a:t>
            </a:r>
          </a:p>
          <a:p>
            <a:pPr algn="l">
              <a:spcAft>
                <a:spcPts val="800"/>
              </a:spcAft>
            </a:pPr>
            <a:endParaRPr sz="1700" b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2. 網站登入（例如學生林小芸）→ 主畫面走校務／平台／AI。</a:t>
            </a:r>
          </a:p>
          <a:p>
            <a:pPr algn="l">
              <a:spcAft>
                <a:spcPts val="800"/>
              </a:spcAft>
            </a:pPr>
            <a:endParaRPr sz="1700" b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3. 進入 AI → 獎學金，問可申請項目，對照資料庫條件。</a:t>
            </a:r>
          </a:p>
          <a:p>
            <a:pPr algn="l">
              <a:spcAft>
                <a:spcPts val="800"/>
              </a:spcAft>
            </a:pPr>
            <a:endParaRPr sz="1700" b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4. 若做校園問答，展開執行紀錄，指出 MCP rag_retrieve。</a:t>
            </a:r>
          </a:p>
          <a:p>
            <a:pPr algn="l">
              <a:spcAft>
                <a:spcPts val="800"/>
              </a:spcAft>
            </a:pPr>
            <a:endParaRPr sz="1700" b="0">
              <a:solidFill>
                <a:srgbClr val="1C2428"/>
              </a:solidFill>
              <a:latin typeface="Microsoft JhengHei"/>
              <a:ea typeface="Microsoft JhengHei"/>
            </a:endParaRP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428"/>
                </a:solidFill>
                <a:latin typeface="Microsoft JhengHei"/>
                <a:ea typeface="Microsoft JhengHei"/>
              </a:rPr>
              <a:t>收斂成一句：入口分角色與功能，資料在 SQL，問答檢索在 MCP，回覆由 Gemini 整理。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bg-campus-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103120" y="1920240"/>
            <a:ext cx="7955279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03120" y="237744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200" b="1">
                <a:solidFill>
                  <a:srgbClr val="1F8A80"/>
                </a:solidFill>
                <a:latin typeface="Microsoft JhengHei"/>
                <a:ea typeface="Microsoft JhengHei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329184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A656B"/>
                </a:solidFill>
                <a:latin typeface="Microsoft JhengHei"/>
                <a:ea typeface="Microsoft JhengHei"/>
              </a:rPr>
              <a:t>Campus AI｜校園學生服務個人化 AI 助理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430</Words>
  <Application>Microsoft Office PowerPoint</Application>
  <PresentationFormat>寬螢幕</PresentationFormat>
  <Paragraphs>106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ShaoYu Lu</dc:creator>
  <cp:keywords/>
  <dc:description>generated using python-pptx</dc:description>
  <cp:lastModifiedBy>e46032</cp:lastModifiedBy>
  <cp:revision>3</cp:revision>
  <dcterms:created xsi:type="dcterms:W3CDTF">2013-01-27T09:14:16Z</dcterms:created>
  <dcterms:modified xsi:type="dcterms:W3CDTF">2026-09-14T00:00:07Z</dcterms:modified>
  <cp:category/>
</cp:coreProperties>
</file>