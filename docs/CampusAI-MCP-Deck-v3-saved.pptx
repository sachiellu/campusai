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dirty="0" err="1">
                <a:solidFill>
                  <a:srgbClr val="1C2428"/>
                </a:solidFill>
                <a:latin typeface="Microsoft JhengHei"/>
                <a:ea typeface="Microsoft JhengHei"/>
              </a:rPr>
              <a:t>校園學生服務個人化</a:t>
            </a:r>
            <a:r>
              <a:rPr sz="3400" b="1" dirty="0">
                <a:solidFill>
                  <a:srgbClr val="1C2428"/>
                </a:solidFill>
                <a:latin typeface="Microsoft JhengHei"/>
                <a:ea typeface="Microsoft JhengHei"/>
              </a:rPr>
              <a:t> AI </a:t>
            </a:r>
            <a:r>
              <a:rPr sz="3400" b="1" dirty="0" err="1">
                <a:solidFill>
                  <a:srgbClr val="1C2428"/>
                </a:solidFill>
                <a:latin typeface="Microsoft JhengHei"/>
                <a:ea typeface="Microsoft JhengHei"/>
              </a:rPr>
              <a:t>助理</a:t>
            </a:r>
            <a:endParaRPr sz="3400" b="1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提供學生、教師、行政使用的校園助理：處理獎學金、選課、活動與校務相關問題。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系統先取得校務資料與文件，再由 Gemini 整理成回覆。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72000"/>
            <a:ext cx="141732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4572000"/>
            <a:ext cx="173736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29967" y="4645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7056" y="4572000"/>
            <a:ext cx="173736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77056" y="4645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24144" y="4572000"/>
            <a:ext cx="141732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24144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4572000"/>
            <a:ext cx="141732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51192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Gemini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572000"/>
            <a:ext cx="1417320" cy="384048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簡報人</a:t>
            </a:r>
            <a:r>
              <a:rPr sz="1400" b="0" dirty="0">
                <a:solidFill>
                  <a:srgbClr val="1C2428"/>
                </a:solidFill>
                <a:latin typeface="Microsoft JhengHei"/>
                <a:ea typeface="Microsoft JhengHei"/>
              </a:rPr>
              <a:t>：</a:t>
            </a:r>
            <a:r>
              <a:rPr lang="zh-TW" altLang="en-US" sz="1400" b="0" dirty="0">
                <a:solidFill>
                  <a:srgbClr val="1C2428"/>
                </a:solidFill>
                <a:latin typeface="Microsoft JhengHei"/>
                <a:ea typeface="Microsoft JhengHei"/>
              </a:rPr>
              <a:t>呂紹瑜</a:t>
            </a:r>
            <a:endParaRPr sz="14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系統用途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誰用、解決什麼問題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2/9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96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3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2F7A4F"/>
                </a:solidFill>
                <a:latin typeface="Microsoft JhengHei"/>
                <a:ea typeface="Microsoft JhengHei"/>
              </a:rPr>
              <a:t>學生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3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獎學金資格、選課建議、校園活動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39" y="1417320"/>
            <a:ext cx="3596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5320" y="1691640"/>
            <a:ext cx="323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F8A80"/>
                </a:solidFill>
                <a:latin typeface="Microsoft JhengHei"/>
                <a:ea typeface="Microsoft JhengHei"/>
              </a:rPr>
              <a:t>教師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2331720"/>
            <a:ext cx="323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導生關懷、成績與畢業門檻提醒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1417320"/>
            <a:ext cx="3596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4839" y="1691640"/>
            <a:ext cx="323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C47A3A"/>
                </a:solidFill>
                <a:latin typeface="Microsoft JhengHei"/>
                <a:ea typeface="Microsoft JhengHei"/>
              </a:rPr>
              <a:t>行政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39" y="2331720"/>
            <a:ext cx="323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校務統計摘要、決策支援資訊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54880"/>
            <a:ext cx="11155680" cy="141732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同一個入口依身分顯示不同功能。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使用者用對話提出需求，系統回傳可執行的資訊與建議。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應用層 → Agent → API → 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應用層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0020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React：主畫面、校務系統、平台服務、AI 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42032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7063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Orchestrator 調度推薦／規劃／申請／溝通／提醒／分析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12464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953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API 服務層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941064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校務 API（學生、課程、活動…）與平台服務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82896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065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111496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SQL Server 校務資料表；校園問答另接 MCP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產品入口設計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主畫面下的三個區塊各自負責什麼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4067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983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主畫面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總入口，導向三大區塊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9" y="1371600"/>
            <a:ext cx="544067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19" y="1691640"/>
            <a:ext cx="4983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校務系統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2286000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學生、課程、活動、申請、行事曆等校務功能入口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44067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4983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平台服務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身分驗證、權限、Tool Calling 等平台能力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3657600"/>
            <a:ext cx="544067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19" y="3977639"/>
            <a:ext cx="4983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AI 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4572000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問答、獎學金、選課、活動等助理對話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技術棧與資料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前端、後端、資料庫怎麼分工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技術棧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前端：React + TypeScript + Vite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後端：C# ASP.NET Core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驗證：JWT（學生／教師／行政）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資料庫：SQL Server（CampusAI）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語言模型：Gemini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文件檢索：MCP RAG Server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通訊：REST、JSON camelCase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62355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SQL 主要資料表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48840"/>
            <a:ext cx="5212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Users｜登入帳號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Students｜GPA、系級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Courses／Scholarships／Activities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ChatConversations／Messages</a:t>
            </a:r>
          </a:p>
          <a:p>
            <a:pPr algn="l">
              <a:spcAft>
                <a:spcPts val="800"/>
              </a:spcAft>
            </a:pPr>
            <a:endParaRPr sz="15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助理回覆的資格與成績，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來源是資料表，可在 SSMS 查看。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MCP Client／Server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校園問答的文件檢索怎麼接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15798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使用者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9751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React 對話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2344" y="1463040"/>
            <a:ext cx="215798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3784" y="1737360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CampusAI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651760"/>
            <a:ext cx="19751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JWT／Agent／Gemini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1463040"/>
            <a:ext cx="215798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3207" y="1737360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651760"/>
            <a:ext cx="19751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後端內呼叫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1463040"/>
            <a:ext cx="215798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2631" y="1737360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MCP RAG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2651760"/>
            <a:ext cx="19751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rag_retrieve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0616" y="1463040"/>
            <a:ext cx="215798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92056" y="1737360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知識庫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2056" y="2651760"/>
            <a:ext cx="19751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campus-docs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1155680" cy="201168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獎學金、選課、活動：走校務 API 與 SQL。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校園問答：走 MCP 檢索規章文件。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對話狀態、登入與歷史由 API 與資料庫管理。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一次提問的處理流程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從輸入到回覆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9966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前端送出問題（含登入權杖與對話編號）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67712"/>
            <a:ext cx="11155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9966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Orchestrator 判斷功能與意圖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63824"/>
            <a:ext cx="11155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92424"/>
            <a:ext cx="9966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查 SQL 校務資料，或呼叫 MCP 檢索文件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59935"/>
            <a:ext cx="11155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6110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88536"/>
            <a:ext cx="9966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Gemini 依查詢結果整理回覆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56048"/>
            <a:ext cx="11155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84648"/>
            <a:ext cx="9966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寫入對話紀錄，畫面顯示結果與執行紀錄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Demo 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建議展示順序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96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3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3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登入 → 主畫面 → 校務／平台／AI</a:t>
            </a:r>
          </a:p>
          <a:p>
            <a:pPr algn="l">
              <a:spcAft>
                <a:spcPts val="500"/>
              </a:spcAft>
            </a:pPr>
            <a:endParaRPr sz="15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（可放截圖）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39" y="1417320"/>
            <a:ext cx="3596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5320" y="1737360"/>
            <a:ext cx="323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2468880"/>
            <a:ext cx="323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SSMS 開啟 Students，對照 GPA</a:t>
            </a:r>
          </a:p>
          <a:p>
            <a:pPr algn="l">
              <a:spcAft>
                <a:spcPts val="500"/>
              </a:spcAft>
            </a:pPr>
            <a:endParaRPr sz="15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（可放截圖）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1417320"/>
            <a:ext cx="3596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4839" y="1737360"/>
            <a:ext cx="323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F8A80"/>
                </a:solidFill>
                <a:latin typeface="Microsoft JhengHei"/>
                <a:ea typeface="Microsoft JhengHei"/>
              </a:rPr>
              <a:t>助理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39" y="2468880"/>
            <a:ext cx="323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獎學金或校園問答，查看回覆與執行紀錄</a:t>
            </a:r>
          </a:p>
          <a:p>
            <a:pPr algn="l">
              <a:spcAft>
                <a:spcPts val="500"/>
              </a:spcAft>
            </a:pPr>
            <a:endParaRPr sz="15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（可放截圖）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11680" y="1828800"/>
            <a:ext cx="8138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0" y="22860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4000" b="1">
                <a:solidFill>
                  <a:srgbClr val="1F8A80"/>
                </a:solidFill>
                <a:latin typeface="Microsoft JhengHei"/>
                <a:ea typeface="Microsoft JhengHe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2004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歡迎提問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Campus AI｜校園學生服務個人化 AI 助理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363</Words>
  <Application>Microsoft Office PowerPoint</Application>
  <PresentationFormat>寬螢幕</PresentationFormat>
  <Paragraphs>117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e46032</cp:lastModifiedBy>
  <cp:revision>2</cp:revision>
  <dcterms:created xsi:type="dcterms:W3CDTF">2013-01-27T09:14:16Z</dcterms:created>
  <dcterms:modified xsi:type="dcterms:W3CDTF">2026-09-13T15:28:20Z</dcterms:modified>
  <cp:category/>
</cp:coreProperties>
</file>