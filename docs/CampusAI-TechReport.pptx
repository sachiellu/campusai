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9601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2EE6D6"/>
                </a:solidFill>
                <a:latin typeface="Microsoft JhengHei"/>
                <a:ea typeface="Microsoft JhengHei"/>
              </a:rPr>
              <a:t>CAMPUS PERSONALIZED AI ASSISTANT — TECHNICAL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0" y="1828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</a:pPr>
            <a:r>
              <a:rPr sz="1100" b="1">
                <a:solidFill>
                  <a:srgbClr val="8A9AA8"/>
                </a:solidFill>
                <a:latin typeface="Microsoft JhengHei"/>
                <a:ea typeface="Microsoft JhengHei"/>
              </a:rPr>
              <a:t>01 SLIDE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20116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2EE6D6"/>
                </a:solidFill>
                <a:latin typeface="Microsoft JhengHei"/>
                <a:ea typeface="Microsoft JhengHei"/>
              </a:rPr>
              <a:t>TECHNICAL REPORT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4688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F2F5F7"/>
                </a:solidFill>
                <a:latin typeface="Microsoft JhengHei"/>
                <a:ea typeface="Microsoft JhengHei"/>
              </a:rPr>
              <a:t>校園個人化助理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32461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8A9AA8"/>
                </a:solidFill>
                <a:latin typeface="Microsoft JhengHei"/>
                <a:ea typeface="Microsoft JhengHei"/>
              </a:rPr>
              <a:t>Campus Personalized AI Assistant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3794760"/>
            <a:ext cx="2011680" cy="54864"/>
          </a:xfrm>
          <a:prstGeom prst="rect">
            <a:avLst/>
          </a:prstGeom>
          <a:solidFill>
            <a:srgbClr val="2EE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40690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F2F5F7"/>
                </a:solidFill>
                <a:latin typeface="Microsoft JhengHei"/>
                <a:ea typeface="Microsoft JhengHei"/>
              </a:rPr>
              <a:t>報告人：呂紹瑜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44805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8A9AA8"/>
                </a:solidFill>
                <a:latin typeface="Microsoft JhengHei"/>
                <a:ea typeface="Microsoft JhengHei"/>
              </a:rPr>
              <a:t>React · ASP.NET Core · SQL Server · MCP RAG · Gemini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12648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3DD68C"/>
                </a:solidFill>
                <a:latin typeface="Microsoft JhengHei"/>
                <a:ea typeface="Microsoft JhengHei"/>
              </a:rPr>
              <a:t>Client 管對話與流程　｜　MCP Server 只檢索　｜　校務資料在 SQL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9601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2EE6D6"/>
                </a:solidFill>
                <a:latin typeface="Microsoft JhengHei"/>
                <a:ea typeface="Microsoft JhengHei"/>
              </a:rPr>
              <a:t>CAMPUS PERSONALIZED AI ASSISTANT — TECHNICAL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0" y="1828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</a:pPr>
            <a:r>
              <a:rPr sz="1100" b="1">
                <a:solidFill>
                  <a:srgbClr val="8A9AA8"/>
                </a:solidFill>
                <a:latin typeface="Microsoft JhengHei"/>
                <a:ea typeface="Microsoft JhengHei"/>
              </a:rPr>
              <a:t>02 SLIDE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029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F2F5F7"/>
                </a:solidFill>
                <a:latin typeface="Microsoft JhengHei"/>
                <a:ea typeface="Microsoft JhengHei"/>
              </a:rPr>
              <a:t>題目規格對照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058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8A9AA8"/>
                </a:solidFill>
                <a:latin typeface="Microsoft JhengHei"/>
                <a:ea typeface="Microsoft JhengHei"/>
              </a:rPr>
              <a:t>嚴格遵循設計指標：MCP 端點職責分離，並對齊目前開發實作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554480"/>
            <a:ext cx="3474720" cy="4572000"/>
          </a:xfrm>
          <a:prstGeom prst="roundRect">
            <a:avLst/>
          </a:prstGeom>
          <a:solidFill>
            <a:srgbClr val="121C28"/>
          </a:solidFill>
          <a:ln w="15875">
            <a:solidFill>
              <a:srgbClr val="1AA8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73736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2F5F7"/>
                </a:solidFill>
                <a:latin typeface="Microsoft JhengHei"/>
                <a:ea typeface="Microsoft JhengHei"/>
              </a:rPr>
              <a:t>MCP Server 規格與實作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2194560"/>
            <a:ext cx="1280160" cy="36576"/>
          </a:xfrm>
          <a:prstGeom prst="rect">
            <a:avLst/>
          </a:prstGeom>
          <a:solidFill>
            <a:srgbClr val="3DD6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2423160"/>
            <a:ext cx="3108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8A9AA8"/>
                </a:solidFill>
                <a:latin typeface="Microsoft JhengHei"/>
                <a:ea typeface="Microsoft JhengHei"/>
              </a:rPr>
              <a:t>規格：MCP Server 只有一個功能——RAG 檢索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3154680"/>
            <a:ext cx="310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3DD68C"/>
                </a:solidFill>
                <a:latin typeface="Microsoft JhengHei"/>
                <a:ea typeface="Microsoft JhengHei"/>
              </a:rPr>
              <a:t>實作：rag_retrieve(query, topK)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3840480"/>
            <a:ext cx="3108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F2F5F7"/>
                </a:solidFill>
                <a:latin typeface="Microsoft JhengHei"/>
                <a:ea typeface="Microsoft JhengHei"/>
              </a:rPr>
              <a:t>僅開放單一端點，獨立於對話機制外；針對 campus-docs.json 做語意／關鍵字檢索。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60520" y="1554480"/>
            <a:ext cx="3474720" cy="4572000"/>
          </a:xfrm>
          <a:prstGeom prst="roundRect">
            <a:avLst/>
          </a:prstGeom>
          <a:solidFill>
            <a:srgbClr val="121C28"/>
          </a:solidFill>
          <a:ln w="15875">
            <a:solidFill>
              <a:srgbClr val="1AA8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43400" y="173736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2F5F7"/>
                </a:solidFill>
                <a:latin typeface="Microsoft JhengHei"/>
                <a:ea typeface="Microsoft JhengHei"/>
              </a:rPr>
              <a:t>MCP Client 規格與實作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43400" y="2194560"/>
            <a:ext cx="1280160" cy="36576"/>
          </a:xfrm>
          <a:prstGeom prst="rect">
            <a:avLst/>
          </a:prstGeom>
          <a:solidFill>
            <a:srgbClr val="F0A0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43400" y="2423160"/>
            <a:ext cx="3108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8A9AA8"/>
                </a:solidFill>
                <a:latin typeface="Microsoft JhengHei"/>
                <a:ea typeface="Microsoft JhengHei"/>
              </a:rPr>
              <a:t>規格：MCP Client 負責使用者對話管理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43400" y="3154680"/>
            <a:ext cx="310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0A04B"/>
                </a:solidFill>
                <a:latin typeface="Microsoft JhengHei"/>
                <a:ea typeface="Microsoft JhengHei"/>
              </a:rPr>
              <a:t>實作：React 多對話 ＋ 後端 JWT／SQL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43400" y="3840480"/>
            <a:ext cx="3108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F2F5F7"/>
                </a:solidFill>
                <a:latin typeface="Microsoft JhengHei"/>
                <a:ea typeface="Microsoft JhengHei"/>
              </a:rPr>
              <a:t>ASP.NET Core 管理 JWT 身分；對話歷程持久化於 SQL Server；校園問答時才呼叫 MCP。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818120" y="1554480"/>
            <a:ext cx="3474720" cy="4572000"/>
          </a:xfrm>
          <a:prstGeom prst="roundRect">
            <a:avLst/>
          </a:prstGeom>
          <a:solidFill>
            <a:srgbClr val="121C28"/>
          </a:solidFill>
          <a:ln w="15875">
            <a:solidFill>
              <a:srgbClr val="1AA8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01000" y="173736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2F5F7"/>
                </a:solidFill>
                <a:latin typeface="Microsoft JhengHei"/>
                <a:ea typeface="Microsoft JhengHei"/>
              </a:rPr>
              <a:t>開發環境與語言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01000" y="2194560"/>
            <a:ext cx="1280160" cy="36576"/>
          </a:xfrm>
          <a:prstGeom prst="rect">
            <a:avLst/>
          </a:prstGeom>
          <a:solidFill>
            <a:srgbClr val="2EE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01000" y="2423160"/>
            <a:ext cx="3108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8A9AA8"/>
                </a:solidFill>
                <a:latin typeface="Microsoft JhengHei"/>
                <a:ea typeface="Microsoft JhengHei"/>
              </a:rPr>
              <a:t>本簡報：完整結構化架構解說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01000" y="3154680"/>
            <a:ext cx="310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2EE6D6"/>
                </a:solidFill>
                <a:latin typeface="Microsoft JhengHei"/>
                <a:ea typeface="Microsoft JhengHei"/>
              </a:rPr>
              <a:t>熟悉實作語言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01000" y="3840480"/>
            <a:ext cx="3108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F2F5F7"/>
                </a:solidFill>
                <a:latin typeface="Microsoft JhengHei"/>
                <a:ea typeface="Microsoft JhengHei"/>
              </a:rPr>
              <a:t>C#（ASP.NET Core／SSMS）
TypeScript（React ＋ Vite 介面）
MCP RAG Server：C#（mcp-rag-server）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9601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2EE6D6"/>
                </a:solidFill>
                <a:latin typeface="Microsoft JhengHei"/>
                <a:ea typeface="Microsoft JhengHei"/>
              </a:rPr>
              <a:t>CAMPUS PERSONALIZED AI ASSISTANT — TECHNICAL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0" y="1828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</a:pPr>
            <a:r>
              <a:rPr sz="1100" b="1">
                <a:solidFill>
                  <a:srgbClr val="8A9AA8"/>
                </a:solidFill>
                <a:latin typeface="Microsoft JhengHei"/>
                <a:ea typeface="Microsoft JhengHei"/>
              </a:rPr>
              <a:t>03 SLIDE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029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F2F5F7"/>
                </a:solidFill>
                <a:latin typeface="Microsoft JhengHei"/>
                <a:ea typeface="Microsoft JhengHei"/>
              </a:rPr>
              <a:t>系統架構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058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8A9AA8"/>
                </a:solidFill>
                <a:latin typeface="Microsoft JhengHei"/>
                <a:ea typeface="Microsoft JhengHei"/>
              </a:rPr>
              <a:t>職責明確：對話與流程控制歸於 Client；知識檢索隔離於 MCP Server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508760"/>
            <a:ext cx="11155680" cy="411480"/>
          </a:xfrm>
          <a:prstGeom prst="roundRect">
            <a:avLst/>
          </a:prstGeom>
          <a:solidFill>
            <a:srgbClr val="0F2A22"/>
          </a:solidFill>
          <a:ln w="12700">
            <a:solidFill>
              <a:srgbClr val="3DD6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572768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3DD68C"/>
                </a:solidFill>
                <a:latin typeface="Microsoft JhengHei"/>
                <a:ea typeface="Microsoft JhengHei"/>
              </a:rPr>
              <a:t>核心理念：Client 管聊天與調度；MCP Server 不聊天，只檢索。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2194560"/>
            <a:ext cx="1783080" cy="2331720"/>
          </a:xfrm>
          <a:prstGeom prst="roundRect">
            <a:avLst/>
          </a:prstGeom>
          <a:solidFill>
            <a:srgbClr val="121C28"/>
          </a:solidFill>
          <a:ln w="12700">
            <a:solidFill>
              <a:srgbClr val="2A3D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2286000"/>
            <a:ext cx="1600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2F5F7"/>
                </a:solidFill>
                <a:latin typeface="Microsoft JhengHei"/>
                <a:ea typeface="Microsoft JhengHei"/>
              </a:rPr>
              <a:t>使用者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578608"/>
            <a:ext cx="1600200" cy="18287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8A9AA8"/>
                </a:solidFill>
                <a:latin typeface="Microsoft JhengHei"/>
                <a:ea typeface="Microsoft JhengHei"/>
              </a:rPr>
              <a:t>瀏覽器操作網站與對話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233671"/>
            <a:ext cx="1600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3DD68C"/>
                </a:solidFill>
                <a:latin typeface="Microsoft JhengHei"/>
                <a:ea typeface="Microsoft JhengHei"/>
              </a:rPr>
              <a:t>Student / Teacher / Admin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240280" y="2194560"/>
            <a:ext cx="1783080" cy="2331720"/>
          </a:xfrm>
          <a:prstGeom prst="roundRect">
            <a:avLst/>
          </a:prstGeom>
          <a:solidFill>
            <a:srgbClr val="121C28"/>
          </a:solidFill>
          <a:ln w="19050">
            <a:solidFill>
              <a:srgbClr val="2EE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331720" y="2286000"/>
            <a:ext cx="1600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2EE6D6"/>
                </a:solidFill>
                <a:latin typeface="Microsoft JhengHei"/>
                <a:ea typeface="Microsoft JhengHei"/>
              </a:rPr>
              <a:t>React Frontend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31720" y="2578608"/>
            <a:ext cx="1600200" cy="18287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8A9AA8"/>
                </a:solidFill>
                <a:latin typeface="Microsoft JhengHei"/>
                <a:ea typeface="Microsoft JhengHei"/>
              </a:rPr>
              <a:t>主畫面、側欄、多對話、權限入口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31720" y="4233671"/>
            <a:ext cx="1600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3DD68C"/>
                </a:solidFill>
                <a:latin typeface="Microsoft JhengHei"/>
                <a:ea typeface="Microsoft JhengHei"/>
              </a:rPr>
              <a:t>TypeScript + Vite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114800" y="2194560"/>
            <a:ext cx="1783080" cy="2331720"/>
          </a:xfrm>
          <a:prstGeom prst="roundRect">
            <a:avLst/>
          </a:prstGeom>
          <a:solidFill>
            <a:srgbClr val="121C28"/>
          </a:solidFill>
          <a:ln w="12700">
            <a:solidFill>
              <a:srgbClr val="2A3D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06240" y="2286000"/>
            <a:ext cx="1600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2F5F7"/>
                </a:solidFill>
                <a:latin typeface="Microsoft JhengHei"/>
                <a:ea typeface="Microsoft JhengHei"/>
              </a:rPr>
              <a:t>CampusAI API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06240" y="2578608"/>
            <a:ext cx="1600200" cy="18287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8A9AA8"/>
                </a:solidFill>
                <a:latin typeface="Microsoft JhengHei"/>
                <a:ea typeface="Microsoft JhengHei"/>
              </a:rPr>
              <a:t>JWT、對話持久化、校務 API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06240" y="4233671"/>
            <a:ext cx="1600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3DD68C"/>
                </a:solidFill>
                <a:latin typeface="Microsoft JhengHei"/>
                <a:ea typeface="Microsoft JhengHei"/>
              </a:rPr>
              <a:t>ASP.NET Core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89320" y="2194560"/>
            <a:ext cx="1783080" cy="2331720"/>
          </a:xfrm>
          <a:prstGeom prst="roundRect">
            <a:avLst/>
          </a:prstGeom>
          <a:solidFill>
            <a:srgbClr val="121C28"/>
          </a:solidFill>
          <a:ln w="19050">
            <a:solidFill>
              <a:srgbClr val="2EE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080759" y="2286000"/>
            <a:ext cx="1600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2EE6D6"/>
                </a:solidFill>
                <a:latin typeface="Microsoft JhengHei"/>
                <a:ea typeface="Microsoft JhengHei"/>
              </a:rPr>
              <a:t>Personal Orchestrator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80759" y="2578608"/>
            <a:ext cx="1600200" cy="18287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8A9AA8"/>
                </a:solidFill>
                <a:latin typeface="Microsoft JhengHei"/>
                <a:ea typeface="Microsoft JhengHei"/>
              </a:rPr>
              <a:t>意圖判斷、六類 Agent 調度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80759" y="4233671"/>
            <a:ext cx="1600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3DD68C"/>
                </a:solidFill>
                <a:latin typeface="Microsoft JhengHei"/>
                <a:ea typeface="Microsoft JhengHei"/>
              </a:rPr>
              <a:t>Agent 層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863840" y="2194560"/>
            <a:ext cx="1783080" cy="2331720"/>
          </a:xfrm>
          <a:prstGeom prst="roundRect">
            <a:avLst/>
          </a:prstGeom>
          <a:solidFill>
            <a:srgbClr val="121C28"/>
          </a:solidFill>
          <a:ln w="12700">
            <a:solidFill>
              <a:srgbClr val="2A3D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955279" y="2286000"/>
            <a:ext cx="1600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2F5F7"/>
                </a:solidFill>
                <a:latin typeface="Microsoft JhengHei"/>
                <a:ea typeface="Microsoft JhengHei"/>
              </a:rPr>
              <a:t>MCP RAG Server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55279" y="2578608"/>
            <a:ext cx="1600200" cy="18287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8A9AA8"/>
                </a:solidFill>
                <a:latin typeface="Microsoft JhengHei"/>
                <a:ea typeface="Microsoft JhengHei"/>
              </a:rPr>
              <a:t>唯一功能：rag_retrieve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955279" y="4233671"/>
            <a:ext cx="1600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3DD68C"/>
                </a:solidFill>
                <a:latin typeface="Microsoft JhengHei"/>
                <a:ea typeface="Microsoft JhengHei"/>
              </a:rPr>
              <a:t>C# · MCP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738360" y="2194560"/>
            <a:ext cx="1783080" cy="2331720"/>
          </a:xfrm>
          <a:prstGeom prst="roundRect">
            <a:avLst/>
          </a:prstGeom>
          <a:solidFill>
            <a:srgbClr val="121C28"/>
          </a:solidFill>
          <a:ln w="12700">
            <a:solidFill>
              <a:srgbClr val="2A3D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829800" y="2286000"/>
            <a:ext cx="1600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2F5F7"/>
                </a:solidFill>
                <a:latin typeface="Microsoft JhengHei"/>
                <a:ea typeface="Microsoft JhengHei"/>
              </a:rPr>
              <a:t>資料來源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829800" y="2578608"/>
            <a:ext cx="1600200" cy="18287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8A9AA8"/>
                </a:solidFill>
                <a:latin typeface="Microsoft JhengHei"/>
                <a:ea typeface="Microsoft JhengHei"/>
              </a:rPr>
              <a:t>SQL 校務表 ＋ campus-docs.json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829800" y="4233671"/>
            <a:ext cx="1600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3DD68C"/>
                </a:solidFill>
                <a:latin typeface="Microsoft JhengHei"/>
                <a:ea typeface="Microsoft JhengHei"/>
              </a:rPr>
              <a:t>SQL / JSON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039112" y="3246120"/>
            <a:ext cx="201168" cy="36576"/>
          </a:xfrm>
          <a:prstGeom prst="rect">
            <a:avLst/>
          </a:prstGeom>
          <a:solidFill>
            <a:srgbClr val="1AA8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822191" y="3246120"/>
            <a:ext cx="201168" cy="36576"/>
          </a:xfrm>
          <a:prstGeom prst="rect">
            <a:avLst/>
          </a:prstGeom>
          <a:solidFill>
            <a:srgbClr val="1AA8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605272" y="3246120"/>
            <a:ext cx="201168" cy="36576"/>
          </a:xfrm>
          <a:prstGeom prst="rect">
            <a:avLst/>
          </a:prstGeom>
          <a:solidFill>
            <a:srgbClr val="1AA8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7388352" y="3246120"/>
            <a:ext cx="201168" cy="36576"/>
          </a:xfrm>
          <a:prstGeom prst="rect">
            <a:avLst/>
          </a:prstGeom>
          <a:solidFill>
            <a:srgbClr val="1AA8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9171432" y="3246120"/>
            <a:ext cx="201168" cy="36576"/>
          </a:xfrm>
          <a:prstGeom prst="rect">
            <a:avLst/>
          </a:prstGeom>
          <a:solidFill>
            <a:srgbClr val="1AA8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502920" y="4846320"/>
            <a:ext cx="11155680" cy="1371600"/>
          </a:xfrm>
          <a:prstGeom prst="roundRect">
            <a:avLst/>
          </a:prstGeom>
          <a:solidFill>
            <a:srgbClr val="121C28"/>
          </a:solidFill>
          <a:ln w="15875">
            <a:solidFill>
              <a:srgbClr val="F0A0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31520" y="498348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0A04B"/>
                </a:solidFill>
                <a:latin typeface="Microsoft JhengHei"/>
                <a:ea typeface="Microsoft JhengHei"/>
              </a:rPr>
              <a:t>關鍵分流策略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1520" y="539496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F2F5F7"/>
                </a:solidFill>
                <a:latin typeface="Microsoft JhengHei"/>
                <a:ea typeface="Microsoft JhengHei"/>
              </a:rPr>
              <a:t>獎學金／選課／活動等校務操作 → 直接走校務 Tools，讀寫 SQL Server。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F2F5F7"/>
                </a:solidFill>
                <a:latin typeface="Microsoft JhengHei"/>
                <a:ea typeface="Microsoft JhengHei"/>
              </a:rPr>
              <a:t>校園規章、辦法等知識問答 → 才走 MCP rag_retrieve，再由 Gemini 整理回覆。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9601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2EE6D6"/>
                </a:solidFill>
                <a:latin typeface="Microsoft JhengHei"/>
                <a:ea typeface="Microsoft JhengHei"/>
              </a:rPr>
              <a:t>CAMPUS PERSONALIZED AI ASSISTANT — TECHNICAL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0" y="1828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</a:pPr>
            <a:r>
              <a:rPr sz="1100" b="1">
                <a:solidFill>
                  <a:srgbClr val="8A9AA8"/>
                </a:solidFill>
                <a:latin typeface="Microsoft JhengHei"/>
                <a:ea typeface="Microsoft JhengHei"/>
              </a:rPr>
              <a:t>04 SLIDE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029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F2F5F7"/>
                </a:solidFill>
                <a:latin typeface="Microsoft JhengHei"/>
                <a:ea typeface="Microsoft JhengHei"/>
              </a:rPr>
              <a:t>系統分層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058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8A9AA8"/>
                </a:solidFill>
                <a:latin typeface="Microsoft JhengHei"/>
                <a:ea typeface="Microsoft JhengHei"/>
              </a:rPr>
              <a:t>由上而下：應用 → Agent → API → 資料，對齊目前程式結構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00200"/>
            <a:ext cx="11155680" cy="1005840"/>
          </a:xfrm>
          <a:prstGeom prst="roundRect">
            <a:avLst/>
          </a:prstGeom>
          <a:solidFill>
            <a:srgbClr val="121C28"/>
          </a:solidFill>
          <a:ln w="19050">
            <a:solidFill>
              <a:srgbClr val="2EE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600200"/>
            <a:ext cx="109728" cy="1005840"/>
          </a:xfrm>
          <a:prstGeom prst="rect">
            <a:avLst/>
          </a:prstGeom>
          <a:solidFill>
            <a:srgbClr val="2EE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801368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F2F5F7"/>
                </a:solidFill>
                <a:latin typeface="Microsoft JhengHei"/>
                <a:ea typeface="Microsoft JhengHei"/>
              </a:rPr>
              <a:t>應用層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94760" y="1874519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8A9AA8"/>
                </a:solidFill>
                <a:latin typeface="Microsoft JhengHei"/>
                <a:ea typeface="Microsoft JhengHei"/>
              </a:rPr>
              <a:t>React：主畫面、校務系統、平台服務、助理功能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2743200"/>
            <a:ext cx="11155680" cy="1005840"/>
          </a:xfrm>
          <a:prstGeom prst="roundRect">
            <a:avLst/>
          </a:prstGeom>
          <a:solidFill>
            <a:srgbClr val="121C28"/>
          </a:solidFill>
          <a:ln w="19050">
            <a:solidFill>
              <a:srgbClr val="3DD6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2743200"/>
            <a:ext cx="109728" cy="1005840"/>
          </a:xfrm>
          <a:prstGeom prst="rect">
            <a:avLst/>
          </a:prstGeom>
          <a:solidFill>
            <a:srgbClr val="3DD6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2944368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F2F5F7"/>
                </a:solidFill>
                <a:latin typeface="Microsoft JhengHei"/>
                <a:ea typeface="Microsoft JhengHei"/>
              </a:rPr>
              <a:t>Agent 層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94760" y="301752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8A9AA8"/>
                </a:solidFill>
                <a:latin typeface="Microsoft JhengHei"/>
                <a:ea typeface="Microsoft JhengHei"/>
              </a:rPr>
              <a:t>Personal Orchestrator ＋ 推薦／規劃／申請／溝通／提醒／分析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3886200"/>
            <a:ext cx="11155680" cy="1005840"/>
          </a:xfrm>
          <a:prstGeom prst="roundRect">
            <a:avLst/>
          </a:prstGeom>
          <a:solidFill>
            <a:srgbClr val="121C28"/>
          </a:solidFill>
          <a:ln w="19050">
            <a:solidFill>
              <a:srgbClr val="F0A0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02920" y="3886200"/>
            <a:ext cx="109728" cy="1005840"/>
          </a:xfrm>
          <a:prstGeom prst="rect">
            <a:avLst/>
          </a:prstGeom>
          <a:solidFill>
            <a:srgbClr val="F0A0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4087368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F2F5F7"/>
                </a:solidFill>
                <a:latin typeface="Microsoft JhengHei"/>
                <a:ea typeface="Microsoft JhengHei"/>
              </a:rPr>
              <a:t>API 層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94760" y="416052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8A9AA8"/>
                </a:solidFill>
                <a:latin typeface="Microsoft JhengHei"/>
                <a:ea typeface="Microsoft JhengHei"/>
              </a:rPr>
              <a:t>校務 API、平台服務、JWT、對話與 MCP Client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5029200"/>
            <a:ext cx="11155680" cy="1005840"/>
          </a:xfrm>
          <a:prstGeom prst="roundRect">
            <a:avLst/>
          </a:prstGeom>
          <a:solidFill>
            <a:srgbClr val="121C28"/>
          </a:solidFill>
          <a:ln w="19050">
            <a:solidFill>
              <a:srgbClr val="8A9A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02920" y="5029200"/>
            <a:ext cx="109728" cy="1005840"/>
          </a:xfrm>
          <a:prstGeom prst="rect">
            <a:avLst/>
          </a:prstGeom>
          <a:solidFill>
            <a:srgbClr val="8A9A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5230368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F2F5F7"/>
                </a:solidFill>
                <a:latin typeface="Microsoft JhengHei"/>
                <a:ea typeface="Microsoft JhengHei"/>
              </a:rPr>
              <a:t>資料層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94760" y="530352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8A9AA8"/>
                </a:solidFill>
                <a:latin typeface="Microsoft JhengHei"/>
                <a:ea typeface="Microsoft JhengHei"/>
              </a:rPr>
              <a:t>SQL Server 正式校務表；校園問答另接 MCP 找文件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9601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2EE6D6"/>
                </a:solidFill>
                <a:latin typeface="Microsoft JhengHei"/>
                <a:ea typeface="Microsoft JhengHei"/>
              </a:rPr>
              <a:t>CAMPUS PERSONALIZED AI ASSISTANT — TECHNICAL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0" y="1828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</a:pPr>
            <a:r>
              <a:rPr sz="1100" b="1">
                <a:solidFill>
                  <a:srgbClr val="8A9AA8"/>
                </a:solidFill>
                <a:latin typeface="Microsoft JhengHei"/>
                <a:ea typeface="Microsoft JhengHei"/>
              </a:rPr>
              <a:t>05 SLIDE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029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F2F5F7"/>
                </a:solidFill>
                <a:latin typeface="Microsoft JhengHei"/>
                <a:ea typeface="Microsoft JhengHei"/>
              </a:rPr>
              <a:t>MCP Server 設計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058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8A9AA8"/>
                </a:solidFill>
                <a:latin typeface="Microsoft JhengHei"/>
                <a:ea typeface="Microsoft JhengHei"/>
              </a:rPr>
              <a:t>極簡、無狀態的知識索取端點，單一職責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554480"/>
            <a:ext cx="5394960" cy="4663440"/>
          </a:xfrm>
          <a:prstGeom prst="roundRect">
            <a:avLst/>
          </a:prstGeom>
          <a:solidFill>
            <a:srgbClr val="121C28"/>
          </a:solidFill>
          <a:ln w="15875">
            <a:solidFill>
              <a:srgbClr val="1AA8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73736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F2F5F7"/>
                </a:solidFill>
                <a:latin typeface="Microsoft JhengHei"/>
                <a:ea typeface="Microsoft JhengHei"/>
              </a:rPr>
              <a:t>服務基本配置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19456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8A9AA8"/>
                </a:solidFill>
                <a:latin typeface="Microsoft JhengHei"/>
                <a:ea typeface="Microsoft JhengHei"/>
              </a:rPr>
              <a:t>專案名稱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51760" y="219456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2EE6D6"/>
                </a:solidFill>
                <a:latin typeface="Microsoft JhengHei"/>
                <a:ea typeface="Microsoft JhengHei"/>
              </a:rPr>
              <a:t>mcp-rag-server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60604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8A9AA8"/>
                </a:solidFill>
                <a:latin typeface="Microsoft JhengHei"/>
                <a:ea typeface="Microsoft JhengHei"/>
              </a:rPr>
              <a:t>通訊協定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51760" y="260604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2EE6D6"/>
                </a:solidFill>
                <a:latin typeface="Microsoft JhengHei"/>
                <a:ea typeface="Microsoft JhengHei"/>
              </a:rPr>
              <a:t>MCP over HTTP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01752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8A9AA8"/>
                </a:solidFill>
                <a:latin typeface="Microsoft JhengHei"/>
                <a:ea typeface="Microsoft JhengHei"/>
              </a:rPr>
              <a:t>單一開放 Tool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51760" y="301752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2EE6D6"/>
                </a:solidFill>
                <a:latin typeface="Microsoft JhengHei"/>
                <a:ea typeface="Microsoft JhengHei"/>
              </a:rPr>
              <a:t>rag_retrieve(query, topK)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42900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8A9AA8"/>
                </a:solidFill>
                <a:latin typeface="Microsoft JhengHei"/>
                <a:ea typeface="Microsoft JhengHei"/>
              </a:rPr>
              <a:t>知識來源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51760" y="342900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2EE6D6"/>
                </a:solidFill>
                <a:latin typeface="Microsoft JhengHei"/>
                <a:ea typeface="Microsoft JhengHei"/>
              </a:rPr>
              <a:t>knowledge/campus-docs.json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02336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2F5F7"/>
                </a:solidFill>
                <a:latin typeface="Microsoft JhengHei"/>
                <a:ea typeface="Microsoft JhengHei"/>
              </a:rPr>
              <a:t>Server 絕對不做的事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48056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FF6B6B"/>
                </a:solidFill>
                <a:latin typeface="Microsoft JhengHei"/>
                <a:ea typeface="Microsoft JhengHei"/>
              </a:rPr>
              <a:t>✕  不維護對話狀態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484632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FF6B6B"/>
                </a:solidFill>
                <a:latin typeface="Microsoft JhengHei"/>
                <a:ea typeface="Microsoft JhengHei"/>
              </a:rPr>
              <a:t>✕  不處理 JWT 與帳號登入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21208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FF6B6B"/>
                </a:solidFill>
                <a:latin typeface="Microsoft JhengHei"/>
                <a:ea typeface="Microsoft JhengHei"/>
              </a:rPr>
              <a:t>✕  不呼叫 LLM、不生成自然語言回覆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26480" y="1554480"/>
            <a:ext cx="5486400" cy="4663440"/>
          </a:xfrm>
          <a:prstGeom prst="roundRect">
            <a:avLst/>
          </a:prstGeom>
          <a:solidFill>
            <a:srgbClr val="121C28"/>
          </a:solidFill>
          <a:ln w="15875">
            <a:solidFill>
              <a:srgbClr val="1AA8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55080" y="173736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F2F5F7"/>
                </a:solidFill>
                <a:latin typeface="Microsoft JhengHei"/>
                <a:ea typeface="Microsoft JhengHei"/>
              </a:rPr>
              <a:t>Tool API 規格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5080" y="219456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2EE6D6"/>
                </a:solidFill>
                <a:latin typeface="Microsoft JhengHei"/>
                <a:ea typeface="Microsoft JhengHei"/>
              </a:rPr>
              <a:t>輸入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2514600"/>
            <a:ext cx="5029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F2F5F7"/>
                </a:solidFill>
                <a:latin typeface="Microsoft JhengHei"/>
                <a:ea typeface="Microsoft JhengHei"/>
              </a:rPr>
              <a:t>query：自然語言問題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F2F5F7"/>
                </a:solidFill>
                <a:latin typeface="Microsoft JhengHei"/>
                <a:ea typeface="Microsoft JhengHei"/>
              </a:rPr>
              <a:t>topK：回傳最相關文件片段數（預設 3）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55080" y="34747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2EE6D6"/>
                </a:solidFill>
                <a:latin typeface="Microsoft JhengHei"/>
                <a:ea typeface="Microsoft JhengHei"/>
              </a:rPr>
              <a:t>輸出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55080" y="3794760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F2F5F7"/>
                </a:solidFill>
                <a:latin typeface="Microsoft JhengHei"/>
                <a:ea typeface="Microsoft JhengHei"/>
              </a:rPr>
              <a:t>Top-K 規章片段：標題、類別、內容、分數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F2F5F7"/>
                </a:solidFill>
                <a:latin typeface="Microsoft JhengHei"/>
                <a:ea typeface="Microsoft JhengHei"/>
              </a:rPr>
              <a:t>僅回傳原始檢索結果，不做聊天包裝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355080" y="5303520"/>
            <a:ext cx="5029200" cy="640080"/>
          </a:xfrm>
          <a:prstGeom prst="roundRect">
            <a:avLst/>
          </a:prstGeom>
          <a:solidFill>
            <a:srgbClr val="0F2A22"/>
          </a:solidFill>
          <a:ln w="12700">
            <a:solidFill>
              <a:srgbClr val="3DD6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37960" y="544068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3DD68C"/>
                </a:solidFill>
                <a:latin typeface="Microsoft JhengHei"/>
                <a:ea typeface="Microsoft JhengHei"/>
              </a:rPr>
              <a:t>一句話：Server 只檢索，不聊天。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9601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2EE6D6"/>
                </a:solidFill>
                <a:latin typeface="Microsoft JhengHei"/>
                <a:ea typeface="Microsoft JhengHei"/>
              </a:rPr>
              <a:t>CAMPUS PERSONALIZED AI ASSISTANT — TECHNICAL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0" y="1828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</a:pPr>
            <a:r>
              <a:rPr sz="1100" b="1">
                <a:solidFill>
                  <a:srgbClr val="8A9AA8"/>
                </a:solidFill>
                <a:latin typeface="Microsoft JhengHei"/>
                <a:ea typeface="Microsoft JhengHei"/>
              </a:rPr>
              <a:t>06 SLIDE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029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F2F5F7"/>
                </a:solidFill>
                <a:latin typeface="Microsoft JhengHei"/>
                <a:ea typeface="Microsoft JhengHei"/>
              </a:rPr>
              <a:t>MCP Client／對話管理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058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8A9AA8"/>
                </a:solidFill>
                <a:latin typeface="Microsoft JhengHei"/>
                <a:ea typeface="Microsoft JhengHei"/>
              </a:rPr>
              <a:t>統籌身分、對話持久化，並在需要時調度 MCP 與 Gemini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554480"/>
            <a:ext cx="5486400" cy="4663440"/>
          </a:xfrm>
          <a:prstGeom prst="roundRect">
            <a:avLst/>
          </a:prstGeom>
          <a:solidFill>
            <a:srgbClr val="121C28"/>
          </a:solidFill>
          <a:ln w="15875">
            <a:solidFill>
              <a:srgbClr val="1AA8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73736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F2F5F7"/>
                </a:solidFill>
                <a:latin typeface="Microsoft JhengHei"/>
                <a:ea typeface="Microsoft JhengHei"/>
              </a:rPr>
              <a:t>對話大腦與身分持久化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24028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2EE6D6"/>
                </a:solidFill>
                <a:latin typeface="Microsoft JhengHei"/>
                <a:ea typeface="Microsoft JhengHei"/>
              </a:rPr>
              <a:t>JWT 身分驗證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606040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F2F5F7"/>
                </a:solidFill>
                <a:latin typeface="Microsoft JhengHei"/>
                <a:ea typeface="Microsoft JhengHei"/>
              </a:rPr>
              <a:t>學生／教師／行政角色分流；入口與功能依身分切換。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56616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2EE6D6"/>
                </a:solidFill>
                <a:latin typeface="Microsoft JhengHei"/>
                <a:ea typeface="Microsoft JhengHei"/>
              </a:rPr>
              <a:t>SQL Server 對話持久化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931920"/>
            <a:ext cx="5029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0">
                <a:solidFill>
                  <a:srgbClr val="F2F5F7"/>
                </a:solidFill>
                <a:latin typeface="Microsoft JhengHei"/>
                <a:ea typeface="Microsoft JhengHei"/>
              </a:rPr>
              <a:t>後端寫入對話紀錄，可用 SSMS 查核。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F2F5F7"/>
                </a:solidFill>
                <a:latin typeface="Microsoft JhengHei"/>
                <a:ea typeface="Microsoft JhengHei"/>
              </a:rPr>
              <a:t>前端側欄：新對話、切換多對話、歷史清單。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F2F5F7"/>
                </a:solidFill>
                <a:latin typeface="Microsoft JhengHei"/>
                <a:ea typeface="Microsoft JhengHei"/>
              </a:rPr>
              <a:t>校務正式資料（成績、獎助、課程…）同庫管理。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554480"/>
            <a:ext cx="5394960" cy="4663440"/>
          </a:xfrm>
          <a:prstGeom prst="roundRect">
            <a:avLst/>
          </a:prstGeom>
          <a:solidFill>
            <a:srgbClr val="121C28"/>
          </a:solidFill>
          <a:ln w="15875">
            <a:solidFill>
              <a:srgbClr val="1AA8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173736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F2F5F7"/>
                </a:solidFill>
                <a:latin typeface="Microsoft JhengHei"/>
                <a:ea typeface="Microsoft JhengHei"/>
              </a:rPr>
              <a:t>知識整合與生成流程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228600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3DD68C"/>
                </a:solidFill>
                <a:latin typeface="Microsoft JhengHei"/>
                <a:ea typeface="Microsoft JhengHei"/>
              </a:rPr>
              <a:t>1. 意圖評估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2578608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F2F5F7"/>
                </a:solidFill>
                <a:latin typeface="Microsoft JhengHei"/>
                <a:ea typeface="Microsoft JhengHei"/>
              </a:rPr>
              <a:t>涉及校園規章等知識時，才呼叫 MCP rag_retrieve。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315468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3DD68C"/>
                </a:solidFill>
                <a:latin typeface="Microsoft JhengHei"/>
                <a:ea typeface="Microsoft JhengHei"/>
              </a:rPr>
              <a:t>2. 校務 Tools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3447288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F2F5F7"/>
                </a:solidFill>
                <a:latin typeface="Microsoft JhengHei"/>
                <a:ea typeface="Microsoft JhengHei"/>
              </a:rPr>
              <a:t>獎學金／選課／活動等直接查 SQL，不經 MCP。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402336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3DD68C"/>
                </a:solidFill>
                <a:latin typeface="Microsoft JhengHei"/>
                <a:ea typeface="Microsoft JhengHei"/>
              </a:rPr>
              <a:t>3. Gemini 整理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4315968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F2F5F7"/>
                </a:solidFill>
                <a:latin typeface="Microsoft JhengHei"/>
                <a:ea typeface="Microsoft JhengHei"/>
              </a:rPr>
              <a:t>把查得結果與對話脈絡組成回覆。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46520" y="5212080"/>
            <a:ext cx="4937760" cy="731520"/>
          </a:xfrm>
          <a:prstGeom prst="roundRect">
            <a:avLst/>
          </a:prstGeom>
          <a:solidFill>
            <a:srgbClr val="1C3A48"/>
          </a:solidFill>
          <a:ln w="12700">
            <a:solidFill>
              <a:srgbClr val="2EE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0" y="5349240"/>
            <a:ext cx="4663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2EE6D6"/>
                </a:solidFill>
                <a:latin typeface="Microsoft JhengHei"/>
                <a:ea typeface="Microsoft JhengHei"/>
              </a:rPr>
              <a:t>RAG 與對話解耦：檢索交給 MCP；安全與歷史交給 ASP.NET Core。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9601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2EE6D6"/>
                </a:solidFill>
                <a:latin typeface="Microsoft JhengHei"/>
                <a:ea typeface="Microsoft JhengHei"/>
              </a:rPr>
              <a:t>CAMPUS PERSONALIZED AI ASSISTANT — TECHNICAL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0" y="1828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</a:pPr>
            <a:r>
              <a:rPr sz="1100" b="1">
                <a:solidFill>
                  <a:srgbClr val="8A9AA8"/>
                </a:solidFill>
                <a:latin typeface="Microsoft JhengHei"/>
                <a:ea typeface="Microsoft JhengHei"/>
              </a:rPr>
              <a:t>07 SLIDE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029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F2F5F7"/>
                </a:solidFill>
                <a:latin typeface="Microsoft JhengHei"/>
                <a:ea typeface="Microsoft JhengHei"/>
              </a:rPr>
              <a:t>一輪請求怎麼走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058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8A9AA8"/>
                </a:solidFill>
                <a:latin typeface="Microsoft JhengHei"/>
                <a:ea typeface="Microsoft JhengHei"/>
              </a:rPr>
              <a:t>從輸入問題到畫面回覆的完整生命週期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691640"/>
            <a:ext cx="1554480" cy="2103120"/>
          </a:xfrm>
          <a:prstGeom prst="roundRect">
            <a:avLst/>
          </a:prstGeom>
          <a:solidFill>
            <a:srgbClr val="121C28"/>
          </a:solidFill>
          <a:ln w="12700">
            <a:solidFill>
              <a:srgbClr val="2A3D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78308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2F5F7"/>
                </a:solidFill>
                <a:latin typeface="Microsoft JhengHei"/>
                <a:ea typeface="Microsoft JhengHei"/>
              </a:rPr>
              <a:t>1 輸入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075688"/>
            <a:ext cx="1371600" cy="1600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8A9AA8"/>
                </a:solidFill>
                <a:latin typeface="Microsoft JhengHei"/>
                <a:ea typeface="Microsoft JhengHei"/>
              </a:rPr>
              <a:t>使用者在網站提問</a:t>
            </a:r>
          </a:p>
        </p:txBody>
      </p:sp>
      <p:sp>
        <p:nvSpPr>
          <p:cNvPr id="10" name="Rectangle 9"/>
          <p:cNvSpPr/>
          <p:nvPr/>
        </p:nvSpPr>
        <p:spPr>
          <a:xfrm>
            <a:off x="1920240" y="2651760"/>
            <a:ext cx="109728" cy="36576"/>
          </a:xfrm>
          <a:prstGeom prst="rect">
            <a:avLst/>
          </a:prstGeom>
          <a:solidFill>
            <a:srgbClr val="1AA8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029968" y="1691640"/>
            <a:ext cx="1554480" cy="2103120"/>
          </a:xfrm>
          <a:prstGeom prst="roundRect">
            <a:avLst/>
          </a:prstGeom>
          <a:solidFill>
            <a:srgbClr val="121C28"/>
          </a:solidFill>
          <a:ln w="12700">
            <a:solidFill>
              <a:srgbClr val="2A3D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121408" y="178308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2F5F7"/>
                </a:solidFill>
                <a:latin typeface="Microsoft JhengHei"/>
                <a:ea typeface="Microsoft JhengHei"/>
              </a:rPr>
              <a:t>2 送出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21408" y="2075688"/>
            <a:ext cx="1371600" cy="1600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8A9AA8"/>
                </a:solidFill>
                <a:latin typeface="Microsoft JhengHei"/>
                <a:ea typeface="Microsoft JhengHei"/>
              </a:rPr>
              <a:t>帶 conversationId 與 JWT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584448" y="2651760"/>
            <a:ext cx="109728" cy="36576"/>
          </a:xfrm>
          <a:prstGeom prst="rect">
            <a:avLst/>
          </a:prstGeom>
          <a:solidFill>
            <a:srgbClr val="1AA8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694176" y="1691640"/>
            <a:ext cx="1554480" cy="2103120"/>
          </a:xfrm>
          <a:prstGeom prst="roundRect">
            <a:avLst/>
          </a:prstGeom>
          <a:solidFill>
            <a:srgbClr val="121C28"/>
          </a:solidFill>
          <a:ln w="12700">
            <a:solidFill>
              <a:srgbClr val="2A3D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785615" y="178308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2F5F7"/>
                </a:solidFill>
                <a:latin typeface="Microsoft JhengHei"/>
                <a:ea typeface="Microsoft JhengHei"/>
              </a:rPr>
              <a:t>3 意圖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85615" y="2075688"/>
            <a:ext cx="1371600" cy="1600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8A9AA8"/>
                </a:solidFill>
                <a:latin typeface="Microsoft JhengHei"/>
                <a:ea typeface="Microsoft JhengHei"/>
              </a:rPr>
              <a:t>Orchestrator 判斷路徑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248656" y="2651760"/>
            <a:ext cx="109728" cy="36576"/>
          </a:xfrm>
          <a:prstGeom prst="rect">
            <a:avLst/>
          </a:prstGeom>
          <a:solidFill>
            <a:srgbClr val="1AA8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358384" y="1691640"/>
            <a:ext cx="1554480" cy="2103120"/>
          </a:xfrm>
          <a:prstGeom prst="roundRect">
            <a:avLst/>
          </a:prstGeom>
          <a:solidFill>
            <a:srgbClr val="121C28"/>
          </a:solidFill>
          <a:ln w="12700">
            <a:solidFill>
              <a:srgbClr val="2A3D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49824" y="178308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2F5F7"/>
                </a:solidFill>
                <a:latin typeface="Microsoft JhengHei"/>
                <a:ea typeface="Microsoft JhengHei"/>
              </a:rPr>
              <a:t>4 分流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49824" y="2075688"/>
            <a:ext cx="1371600" cy="1600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8A9AA8"/>
                </a:solidFill>
                <a:latin typeface="Microsoft JhengHei"/>
                <a:ea typeface="Microsoft JhengHei"/>
              </a:rPr>
              <a:t>SQL 校務 或 MCP 檢索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912864" y="2651760"/>
            <a:ext cx="109728" cy="36576"/>
          </a:xfrm>
          <a:prstGeom prst="rect">
            <a:avLst/>
          </a:prstGeom>
          <a:solidFill>
            <a:srgbClr val="1AA8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022592" y="1691640"/>
            <a:ext cx="1554480" cy="2103120"/>
          </a:xfrm>
          <a:prstGeom prst="roundRect">
            <a:avLst/>
          </a:prstGeom>
          <a:solidFill>
            <a:srgbClr val="121C28"/>
          </a:solidFill>
          <a:ln w="12700">
            <a:solidFill>
              <a:srgbClr val="2A3D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14032" y="178308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2F5F7"/>
                </a:solidFill>
                <a:latin typeface="Microsoft JhengHei"/>
                <a:ea typeface="Microsoft JhengHei"/>
              </a:rPr>
              <a:t>5 取回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14032" y="2075688"/>
            <a:ext cx="1371600" cy="1600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8A9AA8"/>
                </a:solidFill>
                <a:latin typeface="Microsoft JhengHei"/>
                <a:ea typeface="Microsoft JhengHei"/>
              </a:rPr>
              <a:t>成績／規章片段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577072" y="2651760"/>
            <a:ext cx="109728" cy="36576"/>
          </a:xfrm>
          <a:prstGeom prst="rect">
            <a:avLst/>
          </a:prstGeom>
          <a:solidFill>
            <a:srgbClr val="1AA8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8686800" y="1691640"/>
            <a:ext cx="1554480" cy="2103120"/>
          </a:xfrm>
          <a:prstGeom prst="roundRect">
            <a:avLst/>
          </a:prstGeom>
          <a:solidFill>
            <a:srgbClr val="121C28"/>
          </a:solidFill>
          <a:ln w="12700">
            <a:solidFill>
              <a:srgbClr val="2A3D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778240" y="178308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2F5F7"/>
                </a:solidFill>
                <a:latin typeface="Microsoft JhengHei"/>
                <a:ea typeface="Microsoft JhengHei"/>
              </a:rPr>
              <a:t>6 生成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778240" y="2075688"/>
            <a:ext cx="1371600" cy="1600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8A9AA8"/>
                </a:solidFill>
                <a:latin typeface="Microsoft JhengHei"/>
                <a:ea typeface="Microsoft JhengHei"/>
              </a:rPr>
              <a:t>Gemini 整理回覆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0241280" y="2651760"/>
            <a:ext cx="109728" cy="36576"/>
          </a:xfrm>
          <a:prstGeom prst="rect">
            <a:avLst/>
          </a:prstGeom>
          <a:solidFill>
            <a:srgbClr val="1AA8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10351008" y="1691640"/>
            <a:ext cx="1554480" cy="2103120"/>
          </a:xfrm>
          <a:prstGeom prst="roundRect">
            <a:avLst/>
          </a:prstGeom>
          <a:solidFill>
            <a:srgbClr val="121C28"/>
          </a:solidFill>
          <a:ln w="19050">
            <a:solidFill>
              <a:srgbClr val="2EE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442448" y="178308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2EE6D6"/>
                </a:solidFill>
                <a:latin typeface="Microsoft JhengHei"/>
                <a:ea typeface="Microsoft JhengHei"/>
              </a:rPr>
              <a:t>7 落地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442448" y="2075688"/>
            <a:ext cx="1371600" cy="1600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8A9AA8"/>
                </a:solidFill>
                <a:latin typeface="Microsoft JhengHei"/>
                <a:ea typeface="Microsoft JhengHei"/>
              </a:rPr>
              <a:t>SQL 存檔並渲染畫面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02920" y="4114800"/>
            <a:ext cx="11155680" cy="2011680"/>
          </a:xfrm>
          <a:prstGeom prst="roundRect">
            <a:avLst/>
          </a:prstGeom>
          <a:solidFill>
            <a:srgbClr val="121C28"/>
          </a:solidFill>
          <a:ln w="12700">
            <a:solidFill>
              <a:srgbClr val="2A3D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77240" y="4297680"/>
            <a:ext cx="10607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2F5F7"/>
                </a:solidFill>
                <a:latin typeface="Microsoft JhengHei"/>
                <a:ea typeface="Microsoft JhengHei"/>
              </a:rPr>
              <a:t>兩條實際路徑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7240" y="4754880"/>
            <a:ext cx="106070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>
                <a:solidFill>
                  <a:srgbClr val="8A9AA8"/>
                </a:solidFill>
                <a:latin typeface="Microsoft JhengHei"/>
                <a:ea typeface="Microsoft JhengHei"/>
              </a:rPr>
              <a:t>問獎學金／選課／活動 → API → 校務 Tools → SQL Server → Gemini 整理。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8A9AA8"/>
                </a:solidFill>
                <a:latin typeface="Microsoft JhengHei"/>
                <a:ea typeface="Microsoft JhengHei"/>
              </a:rPr>
              <a:t>問校規／辦法 → API → MCP Client → rag_retrieve → campus-docs.json → Gemini 整理。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8A9AA8"/>
                </a:solidFill>
                <a:latin typeface="Microsoft JhengHei"/>
                <a:ea typeface="Microsoft JhengHei"/>
              </a:rPr>
              <a:t>執行紀錄可看到工具呼叫軌跡（例如 Call tool: rag_retrieve）。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9601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2EE6D6"/>
                </a:solidFill>
                <a:latin typeface="Microsoft JhengHei"/>
                <a:ea typeface="Microsoft JhengHei"/>
              </a:rPr>
              <a:t>CAMPUS PERSONALIZED AI ASSISTANT — TECHNICAL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0" y="1828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</a:pPr>
            <a:r>
              <a:rPr sz="1100" b="1">
                <a:solidFill>
                  <a:srgbClr val="8A9AA8"/>
                </a:solidFill>
                <a:latin typeface="Microsoft JhengHei"/>
                <a:ea typeface="Microsoft JhengHei"/>
              </a:rPr>
              <a:t>08 SLIDE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029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F2F5F7"/>
                </a:solidFill>
                <a:latin typeface="Microsoft JhengHei"/>
                <a:ea typeface="Microsoft JhengHei"/>
              </a:rPr>
              <a:t>現場示範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058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8A9AA8"/>
                </a:solidFill>
                <a:latin typeface="Microsoft JhengHei"/>
                <a:ea typeface="Microsoft JhengHei"/>
              </a:rPr>
              <a:t>用同一套資料，對照資料庫、畫面與執行紀錄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00200"/>
            <a:ext cx="3611880" cy="3108960"/>
          </a:xfrm>
          <a:prstGeom prst="roundRect">
            <a:avLst/>
          </a:prstGeom>
          <a:solidFill>
            <a:srgbClr val="121C28"/>
          </a:solidFill>
          <a:ln w="15875">
            <a:solidFill>
              <a:srgbClr val="1AA8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828800"/>
            <a:ext cx="3154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2EE6D6"/>
                </a:solidFill>
                <a:latin typeface="Microsoft JhengHei"/>
                <a:ea typeface="Microsoft JhengHei"/>
              </a:rPr>
              <a:t>1. 資料庫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377440"/>
            <a:ext cx="31546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>
                <a:solidFill>
                  <a:srgbClr val="F2F5F7"/>
                </a:solidFill>
                <a:latin typeface="Microsoft JhengHei"/>
                <a:ea typeface="Microsoft JhengHei"/>
              </a:rPr>
              <a:t>SSMS 打開 Students，先看 GPA 與正式校務表。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160520"/>
            <a:ext cx="2011680" cy="320040"/>
          </a:xfrm>
          <a:prstGeom prst="roundRect">
            <a:avLst/>
          </a:prstGeom>
          <a:solidFill>
            <a:srgbClr val="1C3A48"/>
          </a:solidFill>
          <a:ln w="15875">
            <a:solidFill>
              <a:srgbClr val="2EE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4233672"/>
            <a:ext cx="1865376" cy="2285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2EE6D6"/>
                </a:solidFill>
                <a:latin typeface="Microsoft JhengHei"/>
                <a:ea typeface="Microsoft JhengHei"/>
              </a:rPr>
              <a:t>SQL Server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80" y="1600200"/>
            <a:ext cx="3611880" cy="3108960"/>
          </a:xfrm>
          <a:prstGeom prst="roundRect">
            <a:avLst/>
          </a:prstGeom>
          <a:solidFill>
            <a:srgbClr val="121C28"/>
          </a:solidFill>
          <a:ln w="15875">
            <a:solidFill>
              <a:srgbClr val="1AA8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26280" y="1828800"/>
            <a:ext cx="3154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2EE6D6"/>
                </a:solidFill>
                <a:latin typeface="Microsoft JhengHei"/>
                <a:ea typeface="Microsoft JhengHei"/>
              </a:rPr>
              <a:t>2. 主畫面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6280" y="2377440"/>
            <a:ext cx="31546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>
                <a:solidFill>
                  <a:srgbClr val="F2F5F7"/>
                </a:solidFill>
                <a:latin typeface="Microsoft JhengHei"/>
                <a:ea typeface="Microsoft JhengHei"/>
              </a:rPr>
              <a:t>登入後走一圈：校務系統、平台服務、助理功能三塊入口。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26280" y="4160520"/>
            <a:ext cx="2011680" cy="320040"/>
          </a:xfrm>
          <a:prstGeom prst="roundRect">
            <a:avLst/>
          </a:prstGeom>
          <a:solidFill>
            <a:srgbClr val="1C3A48"/>
          </a:solidFill>
          <a:ln w="15875">
            <a:solidFill>
              <a:srgbClr val="2EE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99432" y="4233672"/>
            <a:ext cx="1865376" cy="2285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2EE6D6"/>
                </a:solidFill>
                <a:latin typeface="Microsoft JhengHei"/>
                <a:ea typeface="Microsoft JhengHei"/>
              </a:rPr>
              <a:t>React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92440" y="1600200"/>
            <a:ext cx="3611880" cy="3108960"/>
          </a:xfrm>
          <a:prstGeom prst="roundRect">
            <a:avLst/>
          </a:prstGeom>
          <a:solidFill>
            <a:srgbClr val="121C28"/>
          </a:solidFill>
          <a:ln w="15875">
            <a:solidFill>
              <a:srgbClr val="1AA8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21040" y="1828800"/>
            <a:ext cx="3154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2EE6D6"/>
                </a:solidFill>
                <a:latin typeface="Microsoft JhengHei"/>
                <a:ea typeface="Microsoft JhengHei"/>
              </a:rPr>
              <a:t>3. 精準問答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40" y="2377440"/>
            <a:ext cx="31546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>
                <a:solidFill>
                  <a:srgbClr val="F2F5F7"/>
                </a:solidFill>
                <a:latin typeface="Microsoft JhengHei"/>
                <a:ea typeface="Microsoft JhengHei"/>
              </a:rPr>
              <a:t>問獎學金條件，對照資料庫是否一致；問校規可見 MCP 軌跡。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321040" y="4160520"/>
            <a:ext cx="2011680" cy="320040"/>
          </a:xfrm>
          <a:prstGeom prst="roundRect">
            <a:avLst/>
          </a:prstGeom>
          <a:solidFill>
            <a:srgbClr val="1C3A48"/>
          </a:solidFill>
          <a:ln w="15875">
            <a:solidFill>
              <a:srgbClr val="2EE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94192" y="4233672"/>
            <a:ext cx="1865376" cy="2285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2EE6D6"/>
                </a:solidFill>
                <a:latin typeface="Microsoft JhengHei"/>
                <a:ea typeface="Microsoft JhengHei"/>
              </a:rPr>
              <a:t>RAG / Tools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5029200"/>
            <a:ext cx="11155680" cy="1188720"/>
          </a:xfrm>
          <a:prstGeom prst="roundRect">
            <a:avLst/>
          </a:prstGeom>
          <a:solidFill>
            <a:srgbClr val="0F2A22"/>
          </a:solidFill>
          <a:ln w="15875">
            <a:solidFill>
              <a:srgbClr val="3DD6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5212080"/>
            <a:ext cx="10607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3DD68C"/>
                </a:solidFill>
                <a:latin typeface="Microsoft JhengHei"/>
                <a:ea typeface="Microsoft JhengHei"/>
              </a:rPr>
              <a:t>KEY CONCEPT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5623560"/>
            <a:ext cx="10607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2F5F7"/>
                </a:solidFill>
                <a:latin typeface="Microsoft JhengHei"/>
                <a:ea typeface="Microsoft JhengHei"/>
              </a:rPr>
              <a:t>入口依身分與功能分；校務資料在 SQL；問答找文件走 MCP；回覆由 Gemini 整理。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9601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2EE6D6"/>
                </a:solidFill>
                <a:latin typeface="Microsoft JhengHei"/>
                <a:ea typeface="Microsoft JhengHei"/>
              </a:rPr>
              <a:t>CAMPUS PERSONALIZED AI ASSISTANT — TECHNICAL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0" y="1828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</a:pPr>
            <a:r>
              <a:rPr sz="1100" b="1">
                <a:solidFill>
                  <a:srgbClr val="8A9AA8"/>
                </a:solidFill>
                <a:latin typeface="Microsoft JhengHei"/>
                <a:ea typeface="Microsoft JhengHei"/>
              </a:rPr>
              <a:t>09 SLIDE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029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F2F5F7"/>
                </a:solidFill>
                <a:latin typeface="Microsoft JhengHei"/>
                <a:ea typeface="Microsoft JhengHei"/>
              </a:rPr>
              <a:t>總結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058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8A9AA8"/>
                </a:solidFill>
                <a:latin typeface="Microsoft JhengHei"/>
                <a:ea typeface="Microsoft JhengHei"/>
              </a:rPr>
              <a:t>這套系統現在的完整樣貌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00200"/>
            <a:ext cx="11155680" cy="731520"/>
          </a:xfrm>
          <a:prstGeom prst="roundRect">
            <a:avLst/>
          </a:prstGeom>
          <a:solidFill>
            <a:srgbClr val="121C28"/>
          </a:solidFill>
          <a:ln w="12700">
            <a:solidFill>
              <a:srgbClr val="2A3D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78308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2EE6D6"/>
                </a:solidFill>
                <a:latin typeface="Microsoft JhengHei"/>
                <a:ea typeface="Microsoft JhengHei"/>
              </a:rPr>
              <a:t>前端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63239" y="1801368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F2F5F7"/>
                </a:solidFill>
                <a:latin typeface="Microsoft JhengHei"/>
                <a:ea typeface="Microsoft JhengHei"/>
              </a:rPr>
              <a:t>React + TypeScript + Vite，依身分切換入口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468880"/>
            <a:ext cx="11155680" cy="731520"/>
          </a:xfrm>
          <a:prstGeom prst="roundRect">
            <a:avLst/>
          </a:prstGeom>
          <a:solidFill>
            <a:srgbClr val="121C28"/>
          </a:solidFill>
          <a:ln w="12700">
            <a:solidFill>
              <a:srgbClr val="2A3D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26517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2EE6D6"/>
                </a:solidFill>
                <a:latin typeface="Microsoft JhengHei"/>
                <a:ea typeface="Microsoft JhengHei"/>
              </a:rPr>
              <a:t>後端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63239" y="2670048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F2F5F7"/>
                </a:solidFill>
                <a:latin typeface="Microsoft JhengHei"/>
                <a:ea typeface="Microsoft JhengHei"/>
              </a:rPr>
              <a:t>ASP.NET Core：JWT、Orchestrator、校務 API、MCP Client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3337560"/>
            <a:ext cx="11155680" cy="731520"/>
          </a:xfrm>
          <a:prstGeom prst="roundRect">
            <a:avLst/>
          </a:prstGeom>
          <a:solidFill>
            <a:srgbClr val="121C28"/>
          </a:solidFill>
          <a:ln w="12700">
            <a:solidFill>
              <a:srgbClr val="2A3D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352044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2EE6D6"/>
                </a:solidFill>
                <a:latin typeface="Microsoft JhengHei"/>
                <a:ea typeface="Microsoft JhengHei"/>
              </a:rPr>
              <a:t>資料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63239" y="3538728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F2F5F7"/>
                </a:solidFill>
                <a:latin typeface="Microsoft JhengHei"/>
                <a:ea typeface="Microsoft JhengHei"/>
              </a:rPr>
              <a:t>SQL Server 正式表；校園問答用 campus-docs.json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4206240"/>
            <a:ext cx="11155680" cy="731520"/>
          </a:xfrm>
          <a:prstGeom prst="roundRect">
            <a:avLst/>
          </a:prstGeom>
          <a:solidFill>
            <a:srgbClr val="121C28"/>
          </a:solidFill>
          <a:ln w="12700">
            <a:solidFill>
              <a:srgbClr val="2A3D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43891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2EE6D6"/>
                </a:solidFill>
                <a:latin typeface="Microsoft JhengHei"/>
                <a:ea typeface="Microsoft JhengHei"/>
              </a:rPr>
              <a:t>檢索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63239" y="4407408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F2F5F7"/>
                </a:solidFill>
                <a:latin typeface="Microsoft JhengHei"/>
                <a:ea typeface="Microsoft JhengHei"/>
              </a:rPr>
              <a:t>MCP Server 單一工具 rag_retrieve，不聊天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5074920"/>
            <a:ext cx="11155680" cy="731520"/>
          </a:xfrm>
          <a:prstGeom prst="roundRect">
            <a:avLst/>
          </a:prstGeom>
          <a:solidFill>
            <a:srgbClr val="121C28"/>
          </a:solidFill>
          <a:ln w="12700">
            <a:solidFill>
              <a:srgbClr val="2A3D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525780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2EE6D6"/>
                </a:solidFill>
                <a:latin typeface="Microsoft JhengHei"/>
                <a:ea typeface="Microsoft JhengHei"/>
              </a:rPr>
              <a:t>生成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63239" y="5276088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F2F5F7"/>
                </a:solidFill>
                <a:latin typeface="Microsoft JhengHei"/>
                <a:ea typeface="Microsoft JhengHei"/>
              </a:rPr>
              <a:t>Gemini 把查得結果整理成可讀回覆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1264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8A9AA8"/>
                </a:solidFill>
                <a:latin typeface="Microsoft JhengHei"/>
                <a:ea typeface="Microsoft JhengHei"/>
              </a:rPr>
              <a:t>報告人：呂紹瑜　｜　感謝聆聽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