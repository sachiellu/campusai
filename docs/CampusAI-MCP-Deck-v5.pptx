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783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8A80"/>
                </a:solidFill>
                <a:latin typeface="Microsoft JhengHei"/>
                <a:ea typeface="Microsoft JhengHei"/>
              </a:rPr>
              <a:t>Campus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C2428"/>
                </a:solidFill>
                <a:latin typeface="Microsoft JhengHei"/>
                <a:ea typeface="Microsoft JhengHei"/>
              </a:rPr>
              <a:t>校園學生服務個人化 AI 助理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46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A656B"/>
                </a:solidFill>
                <a:latin typeface="Microsoft JhengHei"/>
                <a:ea typeface="Microsoft JhengHei"/>
              </a:rPr>
              <a:t>依身分切換入口，用對話處理獎學金、選課、活動與校務問題。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A656B"/>
                </a:solidFill>
                <a:latin typeface="Microsoft JhengHei"/>
                <a:ea typeface="Microsoft JhengHei"/>
              </a:rPr>
              <a:t>正式資料查 SQL Server；校園問答檢索規章；Gemini 整理成回覆。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709160"/>
            <a:ext cx="1417320" cy="365760"/>
          </a:xfrm>
          <a:prstGeom prst="roundRect">
            <a:avLst/>
          </a:prstGeom>
          <a:solidFill>
            <a:srgbClr val="E6F4F2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77316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F8A80"/>
                </a:solidFill>
                <a:latin typeface="Microsoft JhengHei"/>
                <a:ea typeface="Microsoft JhengHei"/>
              </a:rPr>
              <a:t>React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4709160"/>
            <a:ext cx="1783080" cy="365760"/>
          </a:xfrm>
          <a:prstGeom prst="roundRect">
            <a:avLst/>
          </a:prstGeom>
          <a:solidFill>
            <a:srgbClr val="E6F4F2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477316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F8A80"/>
                </a:solidFill>
                <a:latin typeface="Microsoft JhengHei"/>
                <a:ea typeface="Microsoft JhengHei"/>
              </a:rPr>
              <a:t>ASP.NET 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4709160"/>
            <a:ext cx="1783080" cy="365760"/>
          </a:xfrm>
          <a:prstGeom prst="roundRect">
            <a:avLst/>
          </a:prstGeom>
          <a:solidFill>
            <a:srgbClr val="E6F4F2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477316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F8A80"/>
                </a:solidFill>
                <a:latin typeface="Microsoft JhengHei"/>
                <a:ea typeface="Microsoft JhengHei"/>
              </a:rPr>
              <a:t>SQL Server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4709160"/>
            <a:ext cx="1417320" cy="365760"/>
          </a:xfrm>
          <a:prstGeom prst="roundRect">
            <a:avLst/>
          </a:prstGeom>
          <a:solidFill>
            <a:srgbClr val="E6F4F2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477316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F8A80"/>
                </a:solidFill>
                <a:latin typeface="Microsoft JhengHei"/>
                <a:ea typeface="Microsoft JhengHei"/>
              </a:rPr>
              <a:t>JWT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4709160"/>
            <a:ext cx="1417320" cy="365760"/>
          </a:xfrm>
          <a:prstGeom prst="roundRect">
            <a:avLst/>
          </a:prstGeom>
          <a:solidFill>
            <a:srgbClr val="E6F4F2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477316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F8A80"/>
                </a:solidFill>
                <a:latin typeface="Microsoft JhengHei"/>
                <a:ea typeface="Microsoft JhengHei"/>
              </a:rPr>
              <a:t>Gemini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4709160"/>
            <a:ext cx="1417320" cy="365760"/>
          </a:xfrm>
          <a:prstGeom prst="roundRect">
            <a:avLst/>
          </a:prstGeom>
          <a:solidFill>
            <a:srgbClr val="E6F4F2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477316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F8A80"/>
                </a:solidFill>
                <a:latin typeface="Microsoft JhengHei"/>
                <a:ea typeface="Microsoft JhengHei"/>
              </a:rPr>
              <a:t>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52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2428"/>
                </a:solidFill>
                <a:latin typeface="Microsoft JhengHei"/>
                <a:ea typeface="Microsoft JhengHei"/>
              </a:rPr>
              <a:t>簡報人：（請填姓名）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8A80"/>
                </a:solidFill>
                <a:latin typeface="Microsoft JhengHei"/>
                <a:ea typeface="Microsoft JhengHei"/>
              </a:rPr>
              <a:t>Campus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7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C2428"/>
                </a:solidFill>
                <a:latin typeface="Microsoft JhengHei"/>
                <a:ea typeface="Microsoft JhengHei"/>
              </a:rPr>
              <a:t>這套系統在做什麼？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2/9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10881360" cy="13716"/>
          </a:xfrm>
          <a:prstGeom prst="rect">
            <a:avLst/>
          </a:prstGeom>
          <a:solidFill>
            <a:srgbClr val="D4D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這是一個個人化 AI 助理。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依登入身分，切到不同入口：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學生：獎學金、選課、活動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教師：導生關懷、門檻提醒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行政：校務研究、決策支援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依不同身分切換不同入口。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需求用對話提出，系統查完資料後回覆。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資格、成績等正式資料來自 SQL Server；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一般校園問答則靠檢索規章文件。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8A80"/>
                </a:solidFill>
                <a:latin typeface="Microsoft JhengHei"/>
                <a:ea typeface="Microsoft JhengHei"/>
              </a:rPr>
              <a:t>Campus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760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C2428"/>
                </a:solidFill>
                <a:latin typeface="Microsoft JhengHei"/>
                <a:ea typeface="Microsoft JhengHei"/>
              </a:rPr>
              <a:t>系統怎麼分層？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56B"/>
                </a:solidFill>
                <a:latin typeface="Microsoft JhengHei"/>
                <a:ea typeface="Microsoft JhengHei"/>
              </a:rPr>
              <a:t>從畫面到資料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3/9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10881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8A80"/>
                </a:solidFill>
                <a:latin typeface="Microsoft JhengHei"/>
                <a:ea typeface="Microsoft JhengHei"/>
              </a:rPr>
              <a:t>應用層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55448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你看到的網站：主畫面、校務系統、平台服務、AI 功能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96312"/>
            <a:ext cx="10881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791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8A80"/>
                </a:solidFill>
                <a:latin typeface="Microsoft JhengHei"/>
                <a:ea typeface="Microsoft JhengHei"/>
              </a:rPr>
              <a:t>Agent 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724912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負責調度：推薦、規劃、申請、溝通、提醒、分析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66744"/>
            <a:ext cx="10881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84962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8A80"/>
                </a:solidFill>
                <a:latin typeface="Microsoft JhengHei"/>
                <a:ea typeface="Microsoft JhengHei"/>
              </a:rPr>
              <a:t>API 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895344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對外提供校務與平台服務的介面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37176"/>
            <a:ext cx="10881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02005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8A80"/>
                </a:solidFill>
                <a:latin typeface="Microsoft JhengHei"/>
                <a:ea typeface="Microsoft JhengHei"/>
              </a:rPr>
              <a:t>資料層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5065776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SQL Server 存校務資料；問答另接 MCP 找文件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8A80"/>
                </a:solidFill>
                <a:latin typeface="Microsoft JhengHei"/>
                <a:ea typeface="Microsoft JhengHei"/>
              </a:rPr>
              <a:t>Campus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760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C2428"/>
                </a:solidFill>
                <a:latin typeface="Microsoft JhengHei"/>
                <a:ea typeface="Microsoft JhengHei"/>
              </a:rPr>
              <a:t>三種身分各自看什麼？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4/9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5052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83080"/>
            <a:ext cx="313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F7A4F"/>
                </a:solidFill>
                <a:latin typeface="Microsoft JhengHei"/>
                <a:ea typeface="Microsoft JhengHei"/>
              </a:rPr>
              <a:t>學生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60320"/>
            <a:ext cx="3139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獎學金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選課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校園活動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8160" y="1417320"/>
            <a:ext cx="35052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1040" y="1783080"/>
            <a:ext cx="313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F8A80"/>
                </a:solidFill>
                <a:latin typeface="Microsoft JhengHei"/>
                <a:ea typeface="Microsoft JhengHei"/>
              </a:rPr>
              <a:t>教師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1040" y="2560320"/>
            <a:ext cx="3139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導生關懷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門檻提醒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6239" y="1417320"/>
            <a:ext cx="35052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9119" y="1783080"/>
            <a:ext cx="313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C47A3A"/>
                </a:solidFill>
                <a:latin typeface="Microsoft JhengHei"/>
                <a:ea typeface="Microsoft JhengHei"/>
              </a:rPr>
              <a:t>行政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9119" y="2560320"/>
            <a:ext cx="3139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校務研究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決策支援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949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56B"/>
                </a:solidFill>
                <a:latin typeface="Microsoft JhengHei"/>
                <a:ea typeface="Microsoft JhengHei"/>
              </a:rPr>
              <a:t>同一個網站，登入後入口不同。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8A80"/>
                </a:solidFill>
                <a:latin typeface="Microsoft JhengHei"/>
                <a:ea typeface="Microsoft JhengHei"/>
              </a:rPr>
              <a:t>Campus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7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C2428"/>
                </a:solidFill>
                <a:latin typeface="Microsoft JhengHei"/>
                <a:ea typeface="Microsoft JhengHei"/>
              </a:rPr>
              <a:t>主畫面為什麼拆成三塊？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5/9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10881360" cy="13716"/>
          </a:xfrm>
          <a:prstGeom prst="rect">
            <a:avLst/>
          </a:prstGeom>
          <a:solidFill>
            <a:srgbClr val="D4D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主畫面是總入口。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校務系統：學生資料、課程、活動、申請、行事曆。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之後若要接真實校務，入口已經留好。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平台服務：身分驗證、權限、Tool Calling。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處理的是「誰能用、能用到哪」。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AI 功能：真正能對話的助理。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問答、獎學金、選課、活動都從這裡進。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拆開是為了分清楚：校務入口、平台能力、助理功能，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不要全部擠在同一個聊天框。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8A80"/>
                </a:solidFill>
                <a:latin typeface="Microsoft JhengHei"/>
                <a:ea typeface="Microsoft JhengHei"/>
              </a:rPr>
              <a:t>Campus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760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C2428"/>
                </a:solidFill>
                <a:latin typeface="Microsoft JhengHei"/>
                <a:ea typeface="Microsoft JhengHei"/>
              </a:rPr>
              <a:t>用了哪些技術？資料放哪？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6/9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前端：React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後端：ASP.NET Core（C#）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登入：JWT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資料庫：SQL Server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回覆整理：Gemini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文件檢索：MCP RAG Server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例如林小芸的 GPA，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存在 Students 資料表，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不是寫死在網頁上。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8A80"/>
                </a:solidFill>
                <a:latin typeface="Microsoft JhengHei"/>
                <a:ea typeface="Microsoft JhengHei"/>
              </a:rPr>
              <a:t>資料庫裡有什麼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Users　帳號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Students　學生與 GPA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Courses　課程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Scholarships　獎學金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Activities　活動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對話紀錄表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8A80"/>
                </a:solidFill>
                <a:latin typeface="Microsoft JhengHei"/>
                <a:ea typeface="Microsoft JhengHei"/>
              </a:rPr>
              <a:t>Campus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760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C2428"/>
                </a:solidFill>
                <a:latin typeface="Microsoft JhengHei"/>
                <a:ea typeface="Microsoft JhengHei"/>
              </a:rPr>
              <a:t>問問題時資料怎麼來？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7/9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21031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1" y="1600200"/>
            <a:ext cx="19568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8A80"/>
                </a:solidFill>
                <a:latin typeface="Microsoft JhengHei"/>
                <a:ea typeface="Microsoft JhengHei"/>
              </a:rPr>
              <a:t>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1" y="2286000"/>
            <a:ext cx="19568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428"/>
                </a:solidFill>
                <a:latin typeface="Microsoft JhengHei"/>
                <a:ea typeface="Microsoft JhengHei"/>
              </a:rPr>
              <a:t>在網站提問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1371600"/>
            <a:ext cx="21031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07791" y="1600200"/>
            <a:ext cx="19568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8A80"/>
                </a:solidFill>
                <a:latin typeface="Microsoft JhengHei"/>
                <a:ea typeface="Microsoft JhengHei"/>
              </a:rPr>
              <a:t>後端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7791" y="2286000"/>
            <a:ext cx="19568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428"/>
                </a:solidFill>
                <a:latin typeface="Microsoft JhengHei"/>
                <a:ea typeface="Microsoft JhengHei"/>
              </a:rPr>
              <a:t>判斷要查什麼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371600"/>
            <a:ext cx="21031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02352" y="1600200"/>
            <a:ext cx="19568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8A80"/>
                </a:solidFill>
                <a:latin typeface="Microsoft JhengHei"/>
                <a:ea typeface="Microsoft JhengHei"/>
              </a:rPr>
              <a:t>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2352" y="2286000"/>
            <a:ext cx="19568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428"/>
                </a:solidFill>
                <a:latin typeface="Microsoft JhengHei"/>
                <a:ea typeface="Microsoft JhengHei"/>
              </a:rPr>
              <a:t>成績、獎助…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59" y="1371600"/>
            <a:ext cx="21031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96912" y="1600200"/>
            <a:ext cx="19568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8A80"/>
                </a:solidFill>
                <a:latin typeface="Microsoft JhengHei"/>
                <a:ea typeface="Microsoft JhengHei"/>
              </a:rPr>
              <a:t>MCP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2286000"/>
            <a:ext cx="19568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428"/>
                </a:solidFill>
                <a:latin typeface="Microsoft JhengHei"/>
                <a:ea typeface="Microsoft JhengHei"/>
              </a:rPr>
              <a:t>找規章文件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19" y="1371600"/>
            <a:ext cx="21031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91472" y="1600200"/>
            <a:ext cx="19568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8A80"/>
                </a:solidFill>
                <a:latin typeface="Microsoft JhengHei"/>
                <a:ea typeface="Microsoft JhengHei"/>
              </a:rPr>
              <a:t>Gemini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1472" y="2286000"/>
            <a:ext cx="19568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428"/>
                </a:solidFill>
                <a:latin typeface="Microsoft JhengHei"/>
                <a:ea typeface="Microsoft JhengHei"/>
              </a:rPr>
              <a:t>整理成回覆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84048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獎學金、選課、活動：查 SQL。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校園問答：走 MCP 找文件。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對話紀錄存在資料庫，下次還找得到。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8A80"/>
                </a:solidFill>
                <a:latin typeface="Microsoft JhengHei"/>
                <a:ea typeface="Microsoft JhengHei"/>
              </a:rPr>
              <a:t>Campus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7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C2428"/>
                </a:solidFill>
                <a:latin typeface="Microsoft JhengHei"/>
                <a:ea typeface="Microsoft JhengHei"/>
              </a:rPr>
              <a:t>Demo 可以怎麼講？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8/9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10881360" cy="13716"/>
          </a:xfrm>
          <a:prstGeom prst="rect">
            <a:avLst/>
          </a:prstGeom>
          <a:solidFill>
            <a:srgbClr val="D4D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先打開 SSMS，給大家看 Students 的 GPA。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再登入網站，走一圈主畫面的三塊入口。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進 AI，問獎學金，對一下是不是跟資料庫條件對得上。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若問校規，打開執行紀錄，指出有打到 MCP。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收尾：入口照身分與功能分；資料在 SQL；問答找文件；回覆由 Gemini 整理。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103120" y="1920240"/>
            <a:ext cx="7955279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0" y="2377440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200" b="1">
                <a:solidFill>
                  <a:srgbClr val="1F8A80"/>
                </a:solidFill>
                <a:latin typeface="Microsoft JhengHei"/>
                <a:ea typeface="Microsoft JhengHei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3291840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A656B"/>
                </a:solidFill>
                <a:latin typeface="Microsoft JhengHei"/>
                <a:ea typeface="Microsoft JhengHei"/>
              </a:rPr>
              <a:t>Campus AI｜校園學生服務個人化 AI 助理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