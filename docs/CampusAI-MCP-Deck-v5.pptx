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83" d="100"/>
          <a:sy n="83" d="100"/>
        </p:scale>
        <p:origin x="372" y="7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bg-campus-pl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224028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3400" b="1" dirty="0" err="1">
                <a:solidFill>
                  <a:srgbClr val="1C2428"/>
                </a:solidFill>
                <a:latin typeface="Microsoft JhengHei"/>
                <a:ea typeface="Microsoft JhengHei"/>
              </a:rPr>
              <a:t>校園學生服務個人化</a:t>
            </a:r>
            <a:r>
              <a:rPr sz="3400" b="1" dirty="0">
                <a:solidFill>
                  <a:srgbClr val="1C2428"/>
                </a:solidFill>
                <a:latin typeface="Microsoft JhengHei"/>
                <a:ea typeface="Microsoft JhengHei"/>
              </a:rPr>
              <a:t> AI </a:t>
            </a:r>
            <a:r>
              <a:rPr sz="3400" b="1" dirty="0" err="1">
                <a:solidFill>
                  <a:srgbClr val="1C2428"/>
                </a:solidFill>
                <a:latin typeface="Microsoft JhengHei"/>
                <a:ea typeface="Microsoft JhengHei"/>
              </a:rPr>
              <a:t>助理</a:t>
            </a:r>
            <a:endParaRPr sz="3400" b="1" dirty="0">
              <a:solidFill>
                <a:srgbClr val="1C2428"/>
              </a:solidFill>
              <a:latin typeface="Microsoft JhengHei"/>
              <a:ea typeface="Microsoft JhengHei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40080" y="3246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0" dirty="0" err="1">
                <a:solidFill>
                  <a:srgbClr val="5A656B"/>
                </a:solidFill>
                <a:latin typeface="Microsoft JhengHei"/>
                <a:ea typeface="Microsoft JhengHei"/>
              </a:rPr>
              <a:t>依身分切換入口，用對話處理獎學金、選課、活動與校務問題</a:t>
            </a:r>
            <a:r>
              <a:rPr sz="1600" b="0" dirty="0">
                <a:solidFill>
                  <a:srgbClr val="5A656B"/>
                </a:solidFill>
                <a:latin typeface="Microsoft JhengHei"/>
                <a:ea typeface="Microsoft JhengHei"/>
              </a:rPr>
              <a:t>。</a:t>
            </a:r>
          </a:p>
          <a:p>
            <a:pPr algn="l">
              <a:spcAft>
                <a:spcPts val="800"/>
              </a:spcAft>
            </a:pPr>
            <a:r>
              <a:rPr sz="1600" b="0" dirty="0" err="1">
                <a:solidFill>
                  <a:srgbClr val="5A656B"/>
                </a:solidFill>
                <a:latin typeface="Microsoft JhengHei"/>
                <a:ea typeface="Microsoft JhengHei"/>
              </a:rPr>
              <a:t>正式資料查</a:t>
            </a:r>
            <a:r>
              <a:rPr sz="1600" b="0" dirty="0">
                <a:solidFill>
                  <a:srgbClr val="5A656B"/>
                </a:solidFill>
                <a:latin typeface="Microsoft JhengHei"/>
                <a:ea typeface="Microsoft JhengHei"/>
              </a:rPr>
              <a:t> SQL </a:t>
            </a:r>
            <a:r>
              <a:rPr sz="1600" b="0" dirty="0" err="1">
                <a:solidFill>
                  <a:srgbClr val="5A656B"/>
                </a:solidFill>
                <a:latin typeface="Microsoft JhengHei"/>
                <a:ea typeface="Microsoft JhengHei"/>
              </a:rPr>
              <a:t>Server；校園問答檢索規章；Gemini</a:t>
            </a:r>
            <a:r>
              <a:rPr sz="1600" b="0" dirty="0">
                <a:solidFill>
                  <a:srgbClr val="5A656B"/>
                </a:solidFill>
                <a:latin typeface="Microsoft JhengHei"/>
                <a:ea typeface="Microsoft JhengHei"/>
              </a:rPr>
              <a:t> </a:t>
            </a:r>
            <a:r>
              <a:rPr sz="1600" b="0" dirty="0" err="1">
                <a:solidFill>
                  <a:srgbClr val="5A656B"/>
                </a:solidFill>
                <a:latin typeface="Microsoft JhengHei"/>
                <a:ea typeface="Microsoft JhengHei"/>
              </a:rPr>
              <a:t>整理成回覆</a:t>
            </a:r>
            <a:r>
              <a:rPr sz="1600" b="0" dirty="0">
                <a:solidFill>
                  <a:srgbClr val="5A656B"/>
                </a:solidFill>
                <a:latin typeface="Microsoft JhengHei"/>
                <a:ea typeface="Microsoft JhengHei"/>
              </a:rPr>
              <a:t>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4709160"/>
            <a:ext cx="1417320" cy="365760"/>
          </a:xfrm>
          <a:prstGeom prst="roundRect">
            <a:avLst/>
          </a:prstGeom>
          <a:solidFill>
            <a:srgbClr val="E6F4F2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4773168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1F8A80"/>
                </a:solidFill>
                <a:latin typeface="Microsoft JhengHei"/>
                <a:ea typeface="Microsoft JhengHei"/>
              </a:rPr>
              <a:t>React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48840" y="4709160"/>
            <a:ext cx="1783080" cy="365760"/>
          </a:xfrm>
          <a:prstGeom prst="roundRect">
            <a:avLst/>
          </a:prstGeom>
          <a:solidFill>
            <a:srgbClr val="E6F4F2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2148840" y="4773168"/>
            <a:ext cx="1783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1F8A80"/>
                </a:solidFill>
                <a:latin typeface="Microsoft JhengHei"/>
                <a:ea typeface="Microsoft JhengHei"/>
              </a:rPr>
              <a:t>ASP.NET Core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23360" y="4709160"/>
            <a:ext cx="1783080" cy="365760"/>
          </a:xfrm>
          <a:prstGeom prst="roundRect">
            <a:avLst/>
          </a:prstGeom>
          <a:solidFill>
            <a:srgbClr val="E6F4F2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4023360" y="4773168"/>
            <a:ext cx="17830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1F8A80"/>
                </a:solidFill>
                <a:latin typeface="Microsoft JhengHei"/>
                <a:ea typeface="Microsoft JhengHei"/>
              </a:rPr>
              <a:t>SQL Server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897880" y="4709160"/>
            <a:ext cx="1417320" cy="365760"/>
          </a:xfrm>
          <a:prstGeom prst="roundRect">
            <a:avLst/>
          </a:prstGeom>
          <a:solidFill>
            <a:srgbClr val="E6F4F2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897880" y="4773168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1F8A80"/>
                </a:solidFill>
                <a:latin typeface="Microsoft JhengHei"/>
                <a:ea typeface="Microsoft JhengHei"/>
              </a:rPr>
              <a:t>JWT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06640" y="4709160"/>
            <a:ext cx="1417320" cy="365760"/>
          </a:xfrm>
          <a:prstGeom prst="roundRect">
            <a:avLst/>
          </a:prstGeom>
          <a:solidFill>
            <a:srgbClr val="E6F4F2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7406640" y="4773168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1F8A80"/>
                </a:solidFill>
                <a:latin typeface="Microsoft JhengHei"/>
                <a:ea typeface="Microsoft JhengHei"/>
              </a:rPr>
              <a:t>Gemini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915400" y="4709160"/>
            <a:ext cx="1417320" cy="365760"/>
          </a:xfrm>
          <a:prstGeom prst="roundRect">
            <a:avLst/>
          </a:prstGeom>
          <a:solidFill>
            <a:srgbClr val="E6F4F2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915400" y="4773168"/>
            <a:ext cx="1417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100" b="1">
                <a:solidFill>
                  <a:srgbClr val="1F8A80"/>
                </a:solidFill>
                <a:latin typeface="Microsoft JhengHei"/>
                <a:ea typeface="Microsoft JhengHei"/>
              </a:rPr>
              <a:t>MCP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585216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dirty="0" err="1">
                <a:solidFill>
                  <a:srgbClr val="1C2428"/>
                </a:solidFill>
                <a:latin typeface="Microsoft JhengHei"/>
                <a:ea typeface="Microsoft JhengHei"/>
              </a:rPr>
              <a:t>簡報人</a:t>
            </a:r>
            <a:r>
              <a:rPr sz="1400" b="0" dirty="0">
                <a:solidFill>
                  <a:srgbClr val="1C2428"/>
                </a:solidFill>
                <a:latin typeface="Microsoft JhengHei"/>
                <a:ea typeface="Microsoft JhengHei"/>
              </a:rPr>
              <a:t>：</a:t>
            </a:r>
            <a:r>
              <a:rPr lang="zh-TW" altLang="en-US" sz="1400" b="0" dirty="0">
                <a:solidFill>
                  <a:srgbClr val="1C2428"/>
                </a:solidFill>
                <a:latin typeface="Microsoft JhengHei"/>
                <a:ea typeface="Microsoft JhengHei"/>
              </a:rPr>
              <a:t>呂紹瑜</a:t>
            </a:r>
            <a:endParaRPr sz="1400" b="0" dirty="0">
              <a:solidFill>
                <a:srgbClr val="1C2428"/>
              </a:solidFill>
              <a:latin typeface="Microsoft JhengHei"/>
              <a:ea typeface="Microsoft JhengHei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bg-campus-pl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2647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C2428"/>
                </a:solidFill>
                <a:latin typeface="Microsoft JhengHei"/>
                <a:ea typeface="Microsoft JhengHei"/>
              </a:rPr>
              <a:t>這套系統在做什麼？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1147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A656B"/>
                </a:solidFill>
                <a:latin typeface="Microsoft JhengHei"/>
                <a:ea typeface="Microsoft JhengHei"/>
              </a:rPr>
              <a:t>2/9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10881360" cy="13716"/>
          </a:xfrm>
          <a:prstGeom prst="rect">
            <a:avLst/>
          </a:prstGeom>
          <a:solidFill>
            <a:srgbClr val="D4D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972800" cy="45448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800" b="0" dirty="0" err="1">
                <a:solidFill>
                  <a:srgbClr val="1C2428"/>
                </a:solidFill>
                <a:latin typeface="Microsoft JhengHei"/>
                <a:ea typeface="Microsoft JhengHei"/>
              </a:rPr>
              <a:t>這是一個個人化</a:t>
            </a:r>
            <a:r>
              <a:rPr sz="1800" b="0" dirty="0">
                <a:solidFill>
                  <a:srgbClr val="1C2428"/>
                </a:solidFill>
                <a:latin typeface="Microsoft JhengHei"/>
                <a:ea typeface="Microsoft JhengHei"/>
              </a:rPr>
              <a:t> AI </a:t>
            </a:r>
            <a:r>
              <a:rPr sz="1800" b="0" dirty="0" err="1">
                <a:solidFill>
                  <a:srgbClr val="1C2428"/>
                </a:solidFill>
                <a:latin typeface="Microsoft JhengHei"/>
                <a:ea typeface="Microsoft JhengHei"/>
              </a:rPr>
              <a:t>助理</a:t>
            </a:r>
            <a:r>
              <a:rPr sz="1800" b="0" dirty="0">
                <a:solidFill>
                  <a:srgbClr val="1C2428"/>
                </a:solidFill>
                <a:latin typeface="Microsoft JhengHei"/>
                <a:ea typeface="Microsoft JhengHei"/>
              </a:rPr>
              <a:t>。</a:t>
            </a:r>
          </a:p>
          <a:p>
            <a:pPr algn="l">
              <a:spcAft>
                <a:spcPts val="800"/>
              </a:spcAft>
            </a:pPr>
            <a:r>
              <a:rPr sz="1800" b="0" dirty="0" err="1">
                <a:solidFill>
                  <a:srgbClr val="1C2428"/>
                </a:solidFill>
                <a:latin typeface="Microsoft JhengHei"/>
                <a:ea typeface="Microsoft JhengHei"/>
              </a:rPr>
              <a:t>依登入身分</a:t>
            </a:r>
            <a:r>
              <a:rPr lang="zh-TW" altLang="en-US" sz="1800" b="0" dirty="0">
                <a:solidFill>
                  <a:srgbClr val="1C2428"/>
                </a:solidFill>
                <a:latin typeface="Microsoft JhengHei"/>
                <a:ea typeface="Microsoft JhengHei"/>
              </a:rPr>
              <a:t>不同</a:t>
            </a:r>
            <a:r>
              <a:rPr sz="1800" b="0" dirty="0">
                <a:solidFill>
                  <a:srgbClr val="1C2428"/>
                </a:solidFill>
                <a:latin typeface="Microsoft JhengHei"/>
                <a:ea typeface="Microsoft JhengHei"/>
              </a:rPr>
              <a:t>，切</a:t>
            </a:r>
            <a:r>
              <a:rPr lang="zh-TW" altLang="en-US" sz="1800" b="0" dirty="0">
                <a:solidFill>
                  <a:srgbClr val="1C2428"/>
                </a:solidFill>
                <a:latin typeface="Microsoft JhengHei"/>
                <a:ea typeface="Microsoft JhengHei"/>
              </a:rPr>
              <a:t>換</a:t>
            </a:r>
            <a:r>
              <a:rPr sz="1800" b="0" dirty="0" err="1">
                <a:solidFill>
                  <a:srgbClr val="1C2428"/>
                </a:solidFill>
                <a:latin typeface="Microsoft JhengHei"/>
                <a:ea typeface="Microsoft JhengHei"/>
              </a:rPr>
              <a:t>不同入口</a:t>
            </a:r>
            <a:r>
              <a:rPr sz="1800" b="0" dirty="0">
                <a:solidFill>
                  <a:srgbClr val="1C2428"/>
                </a:solidFill>
                <a:latin typeface="Microsoft JhengHei"/>
                <a:ea typeface="Microsoft JhengHei"/>
              </a:rPr>
              <a:t>：</a:t>
            </a:r>
          </a:p>
          <a:p>
            <a:pPr algn="l">
              <a:spcAft>
                <a:spcPts val="800"/>
              </a:spcAft>
            </a:pPr>
            <a:endParaRPr sz="1800" b="0" dirty="0">
              <a:solidFill>
                <a:srgbClr val="1C2428"/>
              </a:solidFill>
              <a:latin typeface="Microsoft JhengHei"/>
              <a:ea typeface="Microsoft JhengHei"/>
            </a:endParaRPr>
          </a:p>
          <a:p>
            <a:pPr algn="l">
              <a:spcAft>
                <a:spcPts val="800"/>
              </a:spcAft>
            </a:pPr>
            <a:r>
              <a:rPr sz="1800" b="0" dirty="0" err="1">
                <a:solidFill>
                  <a:srgbClr val="1C2428"/>
                </a:solidFill>
                <a:latin typeface="Microsoft JhengHei"/>
                <a:ea typeface="Microsoft JhengHei"/>
              </a:rPr>
              <a:t>學生：獎學金、選課、活動</a:t>
            </a:r>
            <a:endParaRPr sz="1800" b="0" dirty="0">
              <a:solidFill>
                <a:srgbClr val="1C2428"/>
              </a:solidFill>
              <a:latin typeface="Microsoft JhengHei"/>
              <a:ea typeface="Microsoft JhengHei"/>
            </a:endParaRPr>
          </a:p>
          <a:p>
            <a:pPr algn="l">
              <a:spcAft>
                <a:spcPts val="800"/>
              </a:spcAft>
            </a:pPr>
            <a:r>
              <a:rPr sz="1800" b="0" dirty="0" err="1">
                <a:solidFill>
                  <a:srgbClr val="1C2428"/>
                </a:solidFill>
                <a:latin typeface="Microsoft JhengHei"/>
                <a:ea typeface="Microsoft JhengHei"/>
              </a:rPr>
              <a:t>教師：導生關懷、門檻提醒</a:t>
            </a:r>
            <a:endParaRPr sz="1800" b="0" dirty="0">
              <a:solidFill>
                <a:srgbClr val="1C2428"/>
              </a:solidFill>
              <a:latin typeface="Microsoft JhengHei"/>
              <a:ea typeface="Microsoft JhengHei"/>
            </a:endParaRPr>
          </a:p>
          <a:p>
            <a:pPr algn="l">
              <a:spcAft>
                <a:spcPts val="800"/>
              </a:spcAft>
            </a:pPr>
            <a:r>
              <a:rPr sz="1800" b="0" dirty="0" err="1">
                <a:solidFill>
                  <a:srgbClr val="1C2428"/>
                </a:solidFill>
                <a:latin typeface="Microsoft JhengHei"/>
                <a:ea typeface="Microsoft JhengHei"/>
              </a:rPr>
              <a:t>行政：校務研究、決策支援</a:t>
            </a:r>
            <a:endParaRPr sz="1800" b="0" dirty="0">
              <a:solidFill>
                <a:srgbClr val="1C2428"/>
              </a:solidFill>
              <a:latin typeface="Microsoft JhengHei"/>
              <a:ea typeface="Microsoft JhengHei"/>
            </a:endParaRPr>
          </a:p>
          <a:p>
            <a:pPr algn="l">
              <a:spcAft>
                <a:spcPts val="800"/>
              </a:spcAft>
            </a:pPr>
            <a:endParaRPr sz="1800" b="0" dirty="0">
              <a:solidFill>
                <a:srgbClr val="1C2428"/>
              </a:solidFill>
              <a:latin typeface="Microsoft JhengHei"/>
              <a:ea typeface="Microsoft JhengHei"/>
            </a:endParaRPr>
          </a:p>
          <a:p>
            <a:pPr algn="l">
              <a:spcAft>
                <a:spcPts val="800"/>
              </a:spcAft>
            </a:pPr>
            <a:r>
              <a:rPr sz="1800" b="0" dirty="0" err="1">
                <a:solidFill>
                  <a:srgbClr val="1C2428"/>
                </a:solidFill>
                <a:latin typeface="Microsoft JhengHei"/>
                <a:ea typeface="Microsoft JhengHei"/>
              </a:rPr>
              <a:t>依不同身分切換不同入口</a:t>
            </a:r>
            <a:r>
              <a:rPr sz="1800" b="0" dirty="0">
                <a:solidFill>
                  <a:srgbClr val="1C2428"/>
                </a:solidFill>
                <a:latin typeface="Microsoft JhengHei"/>
                <a:ea typeface="Microsoft JhengHei"/>
              </a:rPr>
              <a:t>。</a:t>
            </a:r>
          </a:p>
          <a:p>
            <a:pPr algn="l">
              <a:spcAft>
                <a:spcPts val="800"/>
              </a:spcAft>
            </a:pPr>
            <a:r>
              <a:rPr sz="1800" b="0" dirty="0" err="1">
                <a:solidFill>
                  <a:srgbClr val="1C2428"/>
                </a:solidFill>
                <a:latin typeface="Microsoft JhengHei"/>
                <a:ea typeface="Microsoft JhengHei"/>
              </a:rPr>
              <a:t>需求用對話提出，系統查完資料後回覆</a:t>
            </a:r>
            <a:r>
              <a:rPr sz="1800" b="0" dirty="0">
                <a:solidFill>
                  <a:srgbClr val="1C2428"/>
                </a:solidFill>
                <a:latin typeface="Microsoft JhengHei"/>
                <a:ea typeface="Microsoft JhengHei"/>
              </a:rPr>
              <a:t>。</a:t>
            </a:r>
          </a:p>
          <a:p>
            <a:pPr algn="l">
              <a:spcAft>
                <a:spcPts val="800"/>
              </a:spcAft>
            </a:pPr>
            <a:endParaRPr sz="1800" b="0" dirty="0">
              <a:solidFill>
                <a:srgbClr val="1C2428"/>
              </a:solidFill>
              <a:latin typeface="Microsoft JhengHei"/>
              <a:ea typeface="Microsoft JhengHei"/>
            </a:endParaRPr>
          </a:p>
          <a:p>
            <a:pPr algn="l">
              <a:spcAft>
                <a:spcPts val="800"/>
              </a:spcAft>
            </a:pPr>
            <a:r>
              <a:rPr sz="1800" b="0" dirty="0" err="1">
                <a:solidFill>
                  <a:srgbClr val="1C2428"/>
                </a:solidFill>
                <a:latin typeface="Microsoft JhengHei"/>
                <a:ea typeface="Microsoft JhengHei"/>
              </a:rPr>
              <a:t>資格、成績等正式資料來自</a:t>
            </a:r>
            <a:r>
              <a:rPr sz="1800" b="0" dirty="0">
                <a:solidFill>
                  <a:srgbClr val="1C2428"/>
                </a:solidFill>
                <a:latin typeface="Microsoft JhengHei"/>
                <a:ea typeface="Microsoft JhengHei"/>
              </a:rPr>
              <a:t> SQL Server；</a:t>
            </a:r>
          </a:p>
          <a:p>
            <a:pPr algn="l">
              <a:spcAft>
                <a:spcPts val="800"/>
              </a:spcAft>
            </a:pPr>
            <a:r>
              <a:rPr sz="1800" b="0" dirty="0" err="1">
                <a:solidFill>
                  <a:srgbClr val="1C2428"/>
                </a:solidFill>
                <a:latin typeface="Microsoft JhengHei"/>
                <a:ea typeface="Microsoft JhengHei"/>
              </a:rPr>
              <a:t>一般校園問答則靠檢索規章文件</a:t>
            </a:r>
            <a:r>
              <a:rPr sz="1800" b="0" dirty="0">
                <a:solidFill>
                  <a:srgbClr val="1C2428"/>
                </a:solidFill>
                <a:latin typeface="Microsoft JhengHei"/>
                <a:ea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bg-campus-pl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76072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C2428"/>
                </a:solidFill>
                <a:latin typeface="Microsoft JhengHei"/>
                <a:ea typeface="Microsoft JhengHei"/>
              </a:rPr>
              <a:t>系統怎麼分層？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515600" y="41147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A656B"/>
                </a:solidFill>
                <a:latin typeface="Microsoft JhengHei"/>
                <a:ea typeface="Microsoft JhengHei"/>
              </a:rPr>
              <a:t>3/9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325880"/>
            <a:ext cx="108813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508760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8A80"/>
                </a:solidFill>
                <a:latin typeface="Microsoft JhengHei"/>
                <a:ea typeface="Microsoft JhengHei"/>
              </a:rPr>
              <a:t>應用層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1554480"/>
            <a:ext cx="813816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dirty="0" err="1">
                <a:solidFill>
                  <a:srgbClr val="1C2428"/>
                </a:solidFill>
                <a:latin typeface="Microsoft JhengHei"/>
                <a:ea typeface="Microsoft JhengHei"/>
              </a:rPr>
              <a:t>主畫面、校務系統、平台服務、AI</a:t>
            </a:r>
            <a:r>
              <a:rPr sz="1500" b="0" dirty="0">
                <a:solidFill>
                  <a:srgbClr val="1C2428"/>
                </a:solidFill>
                <a:latin typeface="Microsoft JhengHei"/>
                <a:ea typeface="Microsoft JhengHei"/>
              </a:rPr>
              <a:t> </a:t>
            </a:r>
            <a:r>
              <a:rPr sz="1500" b="0" dirty="0" err="1">
                <a:solidFill>
                  <a:srgbClr val="1C2428"/>
                </a:solidFill>
                <a:latin typeface="Microsoft JhengHei"/>
                <a:ea typeface="Microsoft JhengHei"/>
              </a:rPr>
              <a:t>功能</a:t>
            </a:r>
            <a:endParaRPr sz="1500" b="0" dirty="0">
              <a:solidFill>
                <a:srgbClr val="1C2428"/>
              </a:solidFill>
              <a:latin typeface="Microsoft JhengHei"/>
              <a:ea typeface="Microsoft JhengHei"/>
            </a:endParaRPr>
          </a:p>
        </p:txBody>
      </p:sp>
      <p:sp>
        <p:nvSpPr>
          <p:cNvPr id="10" name="Rounded Rectangle 9"/>
          <p:cNvSpPr/>
          <p:nvPr/>
        </p:nvSpPr>
        <p:spPr>
          <a:xfrm>
            <a:off x="640080" y="2496312"/>
            <a:ext cx="108813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2679192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8A80"/>
                </a:solidFill>
                <a:latin typeface="Microsoft JhengHei"/>
                <a:ea typeface="Microsoft JhengHei"/>
              </a:rPr>
              <a:t>Agent 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17520" y="2724912"/>
            <a:ext cx="8138160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 dirty="0" err="1">
                <a:solidFill>
                  <a:srgbClr val="1C2428"/>
                </a:solidFill>
                <a:latin typeface="Microsoft JhengHei"/>
                <a:ea typeface="Microsoft JhengHei"/>
              </a:rPr>
              <a:t>推薦、規劃、申請、溝通、提醒、分析</a:t>
            </a:r>
            <a:endParaRPr sz="1500" b="0" dirty="0">
              <a:solidFill>
                <a:srgbClr val="1C2428"/>
              </a:solidFill>
              <a:latin typeface="Microsoft JhengHei"/>
              <a:ea typeface="Microsoft JhengHei"/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640080" y="3666744"/>
            <a:ext cx="108813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3849624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8A80"/>
                </a:solidFill>
                <a:latin typeface="Microsoft JhengHei"/>
                <a:ea typeface="Microsoft JhengHei"/>
              </a:rPr>
              <a:t>API 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3895344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C2428"/>
                </a:solidFill>
                <a:latin typeface="Microsoft JhengHei"/>
                <a:ea typeface="Microsoft JhengHei"/>
              </a:rPr>
              <a:t>對外提供校務與平台服務的介面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4837176"/>
            <a:ext cx="10881360" cy="105156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68680" y="5020056"/>
            <a:ext cx="20116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8A80"/>
                </a:solidFill>
                <a:latin typeface="Microsoft JhengHei"/>
                <a:ea typeface="Microsoft JhengHei"/>
              </a:rPr>
              <a:t>資料層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17520" y="5065776"/>
            <a:ext cx="81381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1C2428"/>
                </a:solidFill>
                <a:latin typeface="Microsoft JhengHei"/>
                <a:ea typeface="Microsoft JhengHei"/>
              </a:rPr>
              <a:t>SQL Server 存校務資料；問答另接 MCP 找文件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bg-campus-pl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76072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 dirty="0" err="1">
                <a:solidFill>
                  <a:srgbClr val="1C2428"/>
                </a:solidFill>
                <a:latin typeface="Microsoft JhengHei"/>
                <a:ea typeface="Microsoft JhengHei"/>
              </a:rPr>
              <a:t>三種身分各自看什麼</a:t>
            </a:r>
            <a:r>
              <a:rPr sz="2600" b="1" dirty="0">
                <a:solidFill>
                  <a:srgbClr val="1C2428"/>
                </a:solidFill>
                <a:latin typeface="Microsoft JhengHei"/>
                <a:ea typeface="Microsoft JhengHei"/>
              </a:rPr>
              <a:t>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1147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A656B"/>
                </a:solidFill>
                <a:latin typeface="Microsoft JhengHei"/>
                <a:ea typeface="Microsoft JhengHei"/>
              </a:rPr>
              <a:t>4/9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417320"/>
            <a:ext cx="350520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822959" y="1783080"/>
            <a:ext cx="313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2F7A4F"/>
                </a:solidFill>
                <a:latin typeface="Microsoft JhengHei"/>
                <a:ea typeface="Microsoft JhengHei"/>
              </a:rPr>
              <a:t>學生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59" y="2560320"/>
            <a:ext cx="3139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C2428"/>
                </a:solidFill>
                <a:latin typeface="Microsoft JhengHei"/>
                <a:ea typeface="Microsoft JhengHei"/>
              </a:rPr>
              <a:t>獎學金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C2428"/>
                </a:solidFill>
                <a:latin typeface="Microsoft JhengHei"/>
                <a:ea typeface="Microsoft JhengHei"/>
              </a:rPr>
              <a:t>選課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C2428"/>
                </a:solidFill>
                <a:latin typeface="Microsoft JhengHei"/>
                <a:ea typeface="Microsoft JhengHei"/>
              </a:rPr>
              <a:t>校園活動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8160" y="1417320"/>
            <a:ext cx="350520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511040" y="1783080"/>
            <a:ext cx="313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1F8A80"/>
                </a:solidFill>
                <a:latin typeface="Microsoft JhengHei"/>
                <a:ea typeface="Microsoft JhengHei"/>
              </a:rPr>
              <a:t>教師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1040" y="2560320"/>
            <a:ext cx="3139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C2428"/>
                </a:solidFill>
                <a:latin typeface="Microsoft JhengHei"/>
                <a:ea typeface="Microsoft JhengHei"/>
              </a:rPr>
              <a:t>導生關懷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C2428"/>
                </a:solidFill>
                <a:latin typeface="Microsoft JhengHei"/>
                <a:ea typeface="Microsoft JhengHei"/>
              </a:rPr>
              <a:t>門檻提醒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16239" y="1417320"/>
            <a:ext cx="3505200" cy="36576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8199119" y="1783080"/>
            <a:ext cx="3139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200" b="1">
                <a:solidFill>
                  <a:srgbClr val="C47A3A"/>
                </a:solidFill>
                <a:latin typeface="Microsoft JhengHei"/>
                <a:ea typeface="Microsoft JhengHei"/>
              </a:rPr>
              <a:t>行政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9119" y="2560320"/>
            <a:ext cx="31394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800" b="0">
                <a:solidFill>
                  <a:srgbClr val="1C2428"/>
                </a:solidFill>
                <a:latin typeface="Microsoft JhengHei"/>
                <a:ea typeface="Microsoft JhengHei"/>
              </a:rPr>
              <a:t>校務研究</a:t>
            </a:r>
          </a:p>
          <a:p>
            <a:pPr algn="l">
              <a:spcAft>
                <a:spcPts val="1000"/>
              </a:spcAft>
            </a:pPr>
            <a:r>
              <a:rPr sz="1800" b="0">
                <a:solidFill>
                  <a:srgbClr val="1C2428"/>
                </a:solidFill>
                <a:latin typeface="Microsoft JhengHei"/>
                <a:ea typeface="Microsoft JhengHei"/>
              </a:rPr>
              <a:t>決策支援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bg-campus-pl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2647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C2428"/>
                </a:solidFill>
                <a:latin typeface="Microsoft JhengHei"/>
                <a:ea typeface="Microsoft JhengHei"/>
              </a:rPr>
              <a:t>主畫面為什麼拆成三塊？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1147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A656B"/>
                </a:solidFill>
                <a:latin typeface="Microsoft JhengHei"/>
                <a:ea typeface="Microsoft JhengHei"/>
              </a:rPr>
              <a:t>5/9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10881360" cy="13716"/>
          </a:xfrm>
          <a:prstGeom prst="rect">
            <a:avLst/>
          </a:prstGeom>
          <a:solidFill>
            <a:srgbClr val="D4D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700" b="0">
                <a:solidFill>
                  <a:srgbClr val="1C2428"/>
                </a:solidFill>
                <a:latin typeface="Microsoft JhengHei"/>
                <a:ea typeface="Microsoft JhengHei"/>
              </a:rPr>
              <a:t>主畫面是總入口。</a:t>
            </a:r>
          </a:p>
          <a:p>
            <a:pPr algn="l">
              <a:spcAft>
                <a:spcPts val="700"/>
              </a:spcAft>
            </a:pPr>
            <a:endParaRPr sz="1700" b="0">
              <a:solidFill>
                <a:srgbClr val="1C2428"/>
              </a:solidFill>
              <a:latin typeface="Microsoft JhengHei"/>
              <a:ea typeface="Microsoft JhengHei"/>
            </a:endParaRP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C2428"/>
                </a:solidFill>
                <a:latin typeface="Microsoft JhengHei"/>
                <a:ea typeface="Microsoft JhengHei"/>
              </a:rPr>
              <a:t>校務系統：學生資料、課程、活動、申請、行事曆。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C2428"/>
                </a:solidFill>
                <a:latin typeface="Microsoft JhengHei"/>
                <a:ea typeface="Microsoft JhengHei"/>
              </a:rPr>
              <a:t>之後若要接真實校務，入口已經留好。</a:t>
            </a:r>
          </a:p>
          <a:p>
            <a:pPr algn="l">
              <a:spcAft>
                <a:spcPts val="700"/>
              </a:spcAft>
            </a:pPr>
            <a:endParaRPr sz="1700" b="0">
              <a:solidFill>
                <a:srgbClr val="1C2428"/>
              </a:solidFill>
              <a:latin typeface="Microsoft JhengHei"/>
              <a:ea typeface="Microsoft JhengHei"/>
            </a:endParaRP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C2428"/>
                </a:solidFill>
                <a:latin typeface="Microsoft JhengHei"/>
                <a:ea typeface="Microsoft JhengHei"/>
              </a:rPr>
              <a:t>平台服務：身分驗證、權限、Tool Calling。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C2428"/>
                </a:solidFill>
                <a:latin typeface="Microsoft JhengHei"/>
                <a:ea typeface="Microsoft JhengHei"/>
              </a:rPr>
              <a:t>處理的是「誰能用、能用到哪」。</a:t>
            </a:r>
          </a:p>
          <a:p>
            <a:pPr algn="l">
              <a:spcAft>
                <a:spcPts val="700"/>
              </a:spcAft>
            </a:pPr>
            <a:endParaRPr sz="1700" b="0">
              <a:solidFill>
                <a:srgbClr val="1C2428"/>
              </a:solidFill>
              <a:latin typeface="Microsoft JhengHei"/>
              <a:ea typeface="Microsoft JhengHei"/>
            </a:endParaRP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C2428"/>
                </a:solidFill>
                <a:latin typeface="Microsoft JhengHei"/>
                <a:ea typeface="Microsoft JhengHei"/>
              </a:rPr>
              <a:t>AI 功能：真正能對話的助理。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C2428"/>
                </a:solidFill>
                <a:latin typeface="Microsoft JhengHei"/>
                <a:ea typeface="Microsoft JhengHei"/>
              </a:rPr>
              <a:t>問答、獎學金、選課、活動都從這裡進。</a:t>
            </a:r>
          </a:p>
          <a:p>
            <a:pPr algn="l">
              <a:spcAft>
                <a:spcPts val="700"/>
              </a:spcAft>
            </a:pPr>
            <a:endParaRPr sz="1700" b="0">
              <a:solidFill>
                <a:srgbClr val="1C2428"/>
              </a:solidFill>
              <a:latin typeface="Microsoft JhengHei"/>
              <a:ea typeface="Microsoft JhengHei"/>
            </a:endParaRP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C2428"/>
                </a:solidFill>
                <a:latin typeface="Microsoft JhengHei"/>
                <a:ea typeface="Microsoft JhengHei"/>
              </a:rPr>
              <a:t>拆開是為了分清楚：校務入口、平台能力、助理功能，</a:t>
            </a:r>
          </a:p>
          <a:p>
            <a:pPr algn="l">
              <a:spcAft>
                <a:spcPts val="700"/>
              </a:spcAft>
            </a:pPr>
            <a:r>
              <a:rPr sz="1700" b="0">
                <a:solidFill>
                  <a:srgbClr val="1C2428"/>
                </a:solidFill>
                <a:latin typeface="Microsoft JhengHei"/>
                <a:ea typeface="Microsoft JhengHei"/>
              </a:rPr>
              <a:t>不要全部擠在同一個聊天框。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bg-campus-pl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76072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C2428"/>
                </a:solidFill>
                <a:latin typeface="Microsoft JhengHei"/>
                <a:ea typeface="Microsoft JhengHei"/>
              </a:rPr>
              <a:t>用了哪些技術？資料放哪？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1147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A656B"/>
                </a:solidFill>
                <a:latin typeface="Microsoft JhengHei"/>
                <a:ea typeface="Microsoft JhengHei"/>
              </a:rPr>
              <a:t>6/9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32588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428"/>
                </a:solidFill>
                <a:latin typeface="Microsoft JhengHei"/>
                <a:ea typeface="Microsoft JhengHei"/>
              </a:rPr>
              <a:t>前端：React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428"/>
                </a:solidFill>
                <a:latin typeface="Microsoft JhengHei"/>
                <a:ea typeface="Microsoft JhengHei"/>
              </a:rPr>
              <a:t>後端：ASP.NET Core（C#）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428"/>
                </a:solidFill>
                <a:latin typeface="Microsoft JhengHei"/>
                <a:ea typeface="Microsoft JhengHei"/>
              </a:rPr>
              <a:t>登入：JWT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428"/>
                </a:solidFill>
                <a:latin typeface="Microsoft JhengHei"/>
                <a:ea typeface="Microsoft JhengHei"/>
              </a:rPr>
              <a:t>資料庫：SQL Server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428"/>
                </a:solidFill>
                <a:latin typeface="Microsoft JhengHei"/>
                <a:ea typeface="Microsoft JhengHei"/>
              </a:rPr>
              <a:t>回覆整理：Gemini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428"/>
                </a:solidFill>
                <a:latin typeface="Microsoft JhengHei"/>
                <a:ea typeface="Microsoft JhengHei"/>
              </a:rPr>
              <a:t>文件檢索：MCP RAG Server</a:t>
            </a:r>
          </a:p>
          <a:p>
            <a:pPr algn="l">
              <a:spcAft>
                <a:spcPts val="900"/>
              </a:spcAft>
            </a:pPr>
            <a:endParaRPr sz="1700" b="0">
              <a:solidFill>
                <a:srgbClr val="1C2428"/>
              </a:solidFill>
              <a:latin typeface="Microsoft JhengHei"/>
              <a:ea typeface="Microsoft JhengHei"/>
            </a:endParaRP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428"/>
                </a:solidFill>
                <a:latin typeface="Microsoft JhengHei"/>
                <a:ea typeface="Microsoft JhengHei"/>
              </a:rPr>
              <a:t>例如林小芸的 GPA，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428"/>
                </a:solidFill>
                <a:latin typeface="Microsoft JhengHei"/>
                <a:ea typeface="Microsoft JhengHei"/>
              </a:rPr>
              <a:t>存在 Students 資料表，</a:t>
            </a:r>
          </a:p>
          <a:p>
            <a:pPr algn="l">
              <a:spcAft>
                <a:spcPts val="900"/>
              </a:spcAft>
            </a:pPr>
            <a:r>
              <a:rPr sz="1700" b="0">
                <a:solidFill>
                  <a:srgbClr val="1C2428"/>
                </a:solidFill>
                <a:latin typeface="Microsoft JhengHei"/>
                <a:ea typeface="Microsoft JhengHei"/>
              </a:rPr>
              <a:t>不是寫死在網頁上。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309360" y="1325880"/>
            <a:ext cx="5212080" cy="48463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6537960" y="1600200"/>
            <a:ext cx="4754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>
                <a:solidFill>
                  <a:srgbClr val="1F8A80"/>
                </a:solidFill>
                <a:latin typeface="Microsoft JhengHei"/>
                <a:ea typeface="Microsoft JhengHei"/>
              </a:rPr>
              <a:t>資料庫裡有什麼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37960" y="2194560"/>
            <a:ext cx="475488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>
                <a:solidFill>
                  <a:srgbClr val="1C2428"/>
                </a:solidFill>
                <a:latin typeface="Microsoft JhengHei"/>
                <a:ea typeface="Microsoft JhengHei"/>
              </a:rPr>
              <a:t>Users　帳號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C2428"/>
                </a:solidFill>
                <a:latin typeface="Microsoft JhengHei"/>
                <a:ea typeface="Microsoft JhengHei"/>
              </a:rPr>
              <a:t>Students　學生與 GPA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C2428"/>
                </a:solidFill>
                <a:latin typeface="Microsoft JhengHei"/>
                <a:ea typeface="Microsoft JhengHei"/>
              </a:rPr>
              <a:t>Courses　課程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C2428"/>
                </a:solidFill>
                <a:latin typeface="Microsoft JhengHei"/>
                <a:ea typeface="Microsoft JhengHei"/>
              </a:rPr>
              <a:t>Scholarships　獎學金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C2428"/>
                </a:solidFill>
                <a:latin typeface="Microsoft JhengHei"/>
                <a:ea typeface="Microsoft JhengHei"/>
              </a:rPr>
              <a:t>Activities　活動</a:t>
            </a:r>
          </a:p>
          <a:p>
            <a:pPr algn="l">
              <a:spcAft>
                <a:spcPts val="1200"/>
              </a:spcAft>
            </a:pPr>
            <a:r>
              <a:rPr sz="1600" b="0">
                <a:solidFill>
                  <a:srgbClr val="1C2428"/>
                </a:solidFill>
                <a:latin typeface="Microsoft JhengHei"/>
                <a:ea typeface="Microsoft JhengHei"/>
              </a:rPr>
              <a:t>對話紀錄表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bg-campus-pl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576072"/>
            <a:ext cx="96012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600" b="1">
                <a:solidFill>
                  <a:srgbClr val="1C2428"/>
                </a:solidFill>
                <a:latin typeface="Microsoft JhengHei"/>
                <a:ea typeface="Microsoft JhengHei"/>
              </a:rPr>
              <a:t>問問題時資料怎麼來？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1147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A656B"/>
                </a:solidFill>
                <a:latin typeface="Microsoft JhengHei"/>
                <a:ea typeface="Microsoft JhengHei"/>
              </a:rPr>
              <a:t>7/9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371600"/>
            <a:ext cx="210312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713231" y="1600200"/>
            <a:ext cx="19568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8A80"/>
                </a:solidFill>
                <a:latin typeface="Microsoft JhengHei"/>
                <a:ea typeface="Microsoft JhengHei"/>
              </a:rPr>
              <a:t>你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13231" y="2286000"/>
            <a:ext cx="19568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C2428"/>
                </a:solidFill>
                <a:latin typeface="Microsoft JhengHei"/>
                <a:ea typeface="Microsoft JhengHei"/>
              </a:rPr>
              <a:t>在網站提問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34639" y="1371600"/>
            <a:ext cx="210312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2907791" y="1600200"/>
            <a:ext cx="19568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8A80"/>
                </a:solidFill>
                <a:latin typeface="Microsoft JhengHei"/>
                <a:ea typeface="Microsoft JhengHei"/>
              </a:rPr>
              <a:t>後端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07791" y="2286000"/>
            <a:ext cx="19568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C2428"/>
                </a:solidFill>
                <a:latin typeface="Microsoft JhengHei"/>
                <a:ea typeface="Microsoft JhengHei"/>
              </a:rPr>
              <a:t>判斷要查什麼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0" y="1371600"/>
            <a:ext cx="210312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5102352" y="1600200"/>
            <a:ext cx="19568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8A80"/>
                </a:solidFill>
                <a:latin typeface="Microsoft JhengHei"/>
                <a:ea typeface="Microsoft JhengHei"/>
              </a:rPr>
              <a:t>SQL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02352" y="2286000"/>
            <a:ext cx="19568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C2428"/>
                </a:solidFill>
                <a:latin typeface="Microsoft JhengHei"/>
                <a:ea typeface="Microsoft JhengHei"/>
              </a:rPr>
              <a:t>成績、獎助…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23759" y="1371600"/>
            <a:ext cx="210312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7296912" y="1600200"/>
            <a:ext cx="19568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8A80"/>
                </a:solidFill>
                <a:latin typeface="Microsoft JhengHei"/>
                <a:ea typeface="Microsoft JhengHei"/>
              </a:rPr>
              <a:t>MCP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96912" y="2286000"/>
            <a:ext cx="19568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C2428"/>
                </a:solidFill>
                <a:latin typeface="Microsoft JhengHei"/>
                <a:ea typeface="Microsoft JhengHei"/>
              </a:rPr>
              <a:t>找規章文件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9418319" y="1371600"/>
            <a:ext cx="2103120" cy="214884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9491472" y="1600200"/>
            <a:ext cx="195681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1">
                <a:solidFill>
                  <a:srgbClr val="1F8A80"/>
                </a:solidFill>
                <a:latin typeface="Microsoft JhengHei"/>
                <a:ea typeface="Microsoft JhengHei"/>
              </a:rPr>
              <a:t>Gemini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491472" y="2286000"/>
            <a:ext cx="195681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0">
                <a:solidFill>
                  <a:srgbClr val="1C2428"/>
                </a:solidFill>
                <a:latin typeface="Microsoft JhengHei"/>
                <a:ea typeface="Microsoft JhengHei"/>
              </a:rPr>
              <a:t>整理成回覆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3840480"/>
            <a:ext cx="1088136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1C2428"/>
                </a:solidFill>
                <a:latin typeface="Microsoft JhengHei"/>
                <a:ea typeface="Microsoft JhengHei"/>
              </a:rPr>
              <a:t>獎學金、選課、活動：查 SQL。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C2428"/>
                </a:solidFill>
                <a:latin typeface="Microsoft JhengHei"/>
                <a:ea typeface="Microsoft JhengHei"/>
              </a:rPr>
              <a:t>校園問答：走 MCP 找文件。</a:t>
            </a:r>
          </a:p>
          <a:p>
            <a:pPr algn="l">
              <a:spcAft>
                <a:spcPts val="1000"/>
              </a:spcAft>
            </a:pPr>
            <a:endParaRPr sz="1700" b="0">
              <a:solidFill>
                <a:srgbClr val="1C2428"/>
              </a:solidFill>
              <a:latin typeface="Microsoft JhengHei"/>
              <a:ea typeface="Microsoft JhengHei"/>
            </a:endParaRP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1C2428"/>
                </a:solidFill>
                <a:latin typeface="Microsoft JhengHei"/>
                <a:ea typeface="Microsoft JhengHei"/>
              </a:rPr>
              <a:t>對話紀錄存在資料庫，下次還找得到。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bg-campus-pl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612647"/>
            <a:ext cx="9601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2800" b="1">
                <a:solidFill>
                  <a:srgbClr val="1C2428"/>
                </a:solidFill>
                <a:latin typeface="Microsoft JhengHei"/>
                <a:ea typeface="Microsoft JhengHei"/>
              </a:rPr>
              <a:t>Demo 可以怎麼講？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15600" y="411479"/>
            <a:ext cx="10972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Aft>
                <a:spcPts val="600"/>
              </a:spcAft>
            </a:pPr>
            <a:r>
              <a:rPr sz="1200" b="0">
                <a:solidFill>
                  <a:srgbClr val="5A656B"/>
                </a:solidFill>
                <a:latin typeface="Microsoft JhengHei"/>
                <a:ea typeface="Microsoft JhengHei"/>
              </a:rPr>
              <a:t>8/9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34440"/>
            <a:ext cx="10881360" cy="13716"/>
          </a:xfrm>
          <a:prstGeom prst="rect">
            <a:avLst/>
          </a:prstGeom>
          <a:solidFill>
            <a:srgbClr val="D4D8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1097280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700" b="0" dirty="0" err="1">
                <a:solidFill>
                  <a:srgbClr val="1C2428"/>
                </a:solidFill>
                <a:latin typeface="Microsoft JhengHei"/>
                <a:ea typeface="Microsoft JhengHei"/>
              </a:rPr>
              <a:t>先打開</a:t>
            </a:r>
            <a:r>
              <a:rPr sz="1700" b="0" dirty="0">
                <a:solidFill>
                  <a:srgbClr val="1C2428"/>
                </a:solidFill>
                <a:latin typeface="Microsoft JhengHei"/>
                <a:ea typeface="Microsoft JhengHei"/>
              </a:rPr>
              <a:t> </a:t>
            </a:r>
            <a:r>
              <a:rPr sz="1700" b="0" dirty="0" err="1">
                <a:solidFill>
                  <a:srgbClr val="1C2428"/>
                </a:solidFill>
                <a:latin typeface="Microsoft JhengHei"/>
                <a:ea typeface="Microsoft JhengHei"/>
              </a:rPr>
              <a:t>SSMS，給大家看</a:t>
            </a:r>
            <a:r>
              <a:rPr sz="1700" b="0" dirty="0">
                <a:solidFill>
                  <a:srgbClr val="1C2428"/>
                </a:solidFill>
                <a:latin typeface="Microsoft JhengHei"/>
                <a:ea typeface="Microsoft JhengHei"/>
              </a:rPr>
              <a:t> Students 的 GPA。</a:t>
            </a:r>
          </a:p>
          <a:p>
            <a:pPr algn="l">
              <a:spcAft>
                <a:spcPts val="900"/>
              </a:spcAft>
            </a:pPr>
            <a:endParaRPr sz="1700" b="0" dirty="0">
              <a:solidFill>
                <a:srgbClr val="1C2428"/>
              </a:solidFill>
              <a:latin typeface="Microsoft JhengHei"/>
              <a:ea typeface="Microsoft JhengHei"/>
            </a:endParaRPr>
          </a:p>
          <a:p>
            <a:pPr algn="l">
              <a:spcAft>
                <a:spcPts val="900"/>
              </a:spcAft>
            </a:pPr>
            <a:r>
              <a:rPr sz="1700" b="0" dirty="0" err="1">
                <a:solidFill>
                  <a:srgbClr val="1C2428"/>
                </a:solidFill>
                <a:latin typeface="Microsoft JhengHei"/>
                <a:ea typeface="Microsoft JhengHei"/>
              </a:rPr>
              <a:t>再登入網站，走一圈主畫面的三塊入口</a:t>
            </a:r>
            <a:r>
              <a:rPr sz="1700" b="0" dirty="0">
                <a:solidFill>
                  <a:srgbClr val="1C2428"/>
                </a:solidFill>
                <a:latin typeface="Microsoft JhengHei"/>
                <a:ea typeface="Microsoft JhengHei"/>
              </a:rPr>
              <a:t>。</a:t>
            </a:r>
          </a:p>
          <a:p>
            <a:pPr algn="l">
              <a:spcAft>
                <a:spcPts val="900"/>
              </a:spcAft>
            </a:pPr>
            <a:endParaRPr sz="1700" b="0" dirty="0">
              <a:solidFill>
                <a:srgbClr val="1C2428"/>
              </a:solidFill>
              <a:latin typeface="Microsoft JhengHei"/>
              <a:ea typeface="Microsoft JhengHei"/>
            </a:endParaRPr>
          </a:p>
          <a:p>
            <a:pPr algn="l">
              <a:spcAft>
                <a:spcPts val="900"/>
              </a:spcAft>
            </a:pPr>
            <a:r>
              <a:rPr sz="1700" b="0" dirty="0">
                <a:solidFill>
                  <a:srgbClr val="1C2428"/>
                </a:solidFill>
                <a:latin typeface="Microsoft JhengHei"/>
                <a:ea typeface="Microsoft JhengHei"/>
              </a:rPr>
              <a:t>進 </a:t>
            </a:r>
            <a:r>
              <a:rPr sz="1700" b="0" dirty="0" err="1">
                <a:solidFill>
                  <a:srgbClr val="1C2428"/>
                </a:solidFill>
                <a:latin typeface="Microsoft JhengHei"/>
                <a:ea typeface="Microsoft JhengHei"/>
              </a:rPr>
              <a:t>AI，問獎學金，對一下是不是跟資料庫條件對得上</a:t>
            </a:r>
            <a:r>
              <a:rPr sz="1700" b="0" dirty="0">
                <a:solidFill>
                  <a:srgbClr val="1C2428"/>
                </a:solidFill>
                <a:latin typeface="Microsoft JhengHei"/>
                <a:ea typeface="Microsoft JhengHei"/>
              </a:rPr>
              <a:t>。</a:t>
            </a:r>
          </a:p>
          <a:p>
            <a:pPr algn="l">
              <a:spcAft>
                <a:spcPts val="900"/>
              </a:spcAft>
            </a:pPr>
            <a:endParaRPr sz="1700" b="0" dirty="0">
              <a:solidFill>
                <a:srgbClr val="1C2428"/>
              </a:solidFill>
              <a:latin typeface="Microsoft JhengHei"/>
              <a:ea typeface="Microsoft JhengHei"/>
            </a:endParaRPr>
          </a:p>
          <a:p>
            <a:pPr algn="l">
              <a:spcAft>
                <a:spcPts val="900"/>
              </a:spcAft>
            </a:pPr>
            <a:r>
              <a:rPr sz="1700" b="0" dirty="0" err="1">
                <a:solidFill>
                  <a:srgbClr val="1C2428"/>
                </a:solidFill>
                <a:latin typeface="Microsoft JhengHei"/>
                <a:ea typeface="Microsoft JhengHei"/>
              </a:rPr>
              <a:t>若問校規，打開執行紀錄，指出有打到</a:t>
            </a:r>
            <a:r>
              <a:rPr sz="1700" b="0" dirty="0">
                <a:solidFill>
                  <a:srgbClr val="1C2428"/>
                </a:solidFill>
                <a:latin typeface="Microsoft JhengHei"/>
                <a:ea typeface="Microsoft JhengHei"/>
              </a:rPr>
              <a:t> MCP。</a:t>
            </a:r>
          </a:p>
          <a:p>
            <a:pPr algn="l">
              <a:spcAft>
                <a:spcPts val="900"/>
              </a:spcAft>
            </a:pPr>
            <a:endParaRPr sz="1700" b="0" dirty="0">
              <a:solidFill>
                <a:srgbClr val="1C2428"/>
              </a:solidFill>
              <a:latin typeface="Microsoft JhengHei"/>
              <a:ea typeface="Microsoft JhengHei"/>
            </a:endParaRPr>
          </a:p>
          <a:p>
            <a:pPr algn="l">
              <a:spcAft>
                <a:spcPts val="900"/>
              </a:spcAft>
            </a:pPr>
            <a:r>
              <a:rPr sz="1700" b="0" dirty="0" err="1">
                <a:solidFill>
                  <a:srgbClr val="1C2428"/>
                </a:solidFill>
                <a:latin typeface="Microsoft JhengHei"/>
                <a:ea typeface="Microsoft JhengHei"/>
              </a:rPr>
              <a:t>收尾：入口照身分與功能分；資料在</a:t>
            </a:r>
            <a:r>
              <a:rPr sz="1700" b="0" dirty="0">
                <a:solidFill>
                  <a:srgbClr val="1C2428"/>
                </a:solidFill>
                <a:latin typeface="Microsoft JhengHei"/>
                <a:ea typeface="Microsoft JhengHei"/>
              </a:rPr>
              <a:t> </a:t>
            </a:r>
            <a:r>
              <a:rPr sz="1700" b="0" dirty="0" err="1">
                <a:solidFill>
                  <a:srgbClr val="1C2428"/>
                </a:solidFill>
                <a:latin typeface="Microsoft JhengHei"/>
                <a:ea typeface="Microsoft JhengHei"/>
              </a:rPr>
              <a:t>SQL；問答找文件；回覆由</a:t>
            </a:r>
            <a:r>
              <a:rPr sz="1700" b="0" dirty="0">
                <a:solidFill>
                  <a:srgbClr val="1C2428"/>
                </a:solidFill>
                <a:latin typeface="Microsoft JhengHei"/>
                <a:ea typeface="Microsoft JhengHei"/>
              </a:rPr>
              <a:t> Gemini </a:t>
            </a:r>
            <a:r>
              <a:rPr sz="1700" b="0" dirty="0" err="1">
                <a:solidFill>
                  <a:srgbClr val="1C2428"/>
                </a:solidFill>
                <a:latin typeface="Microsoft JhengHei"/>
                <a:ea typeface="Microsoft JhengHei"/>
              </a:rPr>
              <a:t>整理</a:t>
            </a:r>
            <a:r>
              <a:rPr sz="1700" b="0" dirty="0">
                <a:solidFill>
                  <a:srgbClr val="1C2428"/>
                </a:solidFill>
                <a:latin typeface="Microsoft JhengHei"/>
                <a:ea typeface="Microsoft JhengHei"/>
              </a:rPr>
              <a:t>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slide-bg-campus-pla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2103120" y="1920240"/>
            <a:ext cx="7955279" cy="2926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4D8D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2103120" y="2377440"/>
            <a:ext cx="79552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4200" b="1">
                <a:solidFill>
                  <a:srgbClr val="1F8A80"/>
                </a:solidFill>
                <a:latin typeface="Microsoft JhengHei"/>
                <a:ea typeface="Microsoft JhengHei"/>
              </a:rPr>
              <a:t>Q &amp;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3291840"/>
            <a:ext cx="7955279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>
                <a:solidFill>
                  <a:srgbClr val="5A656B"/>
                </a:solidFill>
                <a:latin typeface="Microsoft JhengHei"/>
                <a:ea typeface="Microsoft JhengHei"/>
              </a:rPr>
              <a:t>Campus AI｜校園學生服務個人化 AI 助理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327</Words>
  <Application>Microsoft Office PowerPoint</Application>
  <PresentationFormat>寬螢幕</PresentationFormat>
  <Paragraphs>109</Paragraphs>
  <Slides>9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9</vt:i4>
      </vt:variant>
    </vt:vector>
  </HeadingPairs>
  <TitlesOfParts>
    <vt:vector size="13" baseType="lpstr">
      <vt:lpstr>Microsoft JhengHei</vt:lpstr>
      <vt:lpstr>Arial</vt:lpstr>
      <vt:lpstr>Calibri</vt:lpstr>
      <vt:lpstr>Office Theme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e46032</cp:lastModifiedBy>
  <cp:revision>3</cp:revision>
  <dcterms:created xsi:type="dcterms:W3CDTF">2013-01-27T09:14:16Z</dcterms:created>
  <dcterms:modified xsi:type="dcterms:W3CDTF">2026-09-14T00:43:40Z</dcterms:modified>
  <cp:category/>
</cp:coreProperties>
</file>